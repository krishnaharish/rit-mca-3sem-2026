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Merriweather Black" panose="00000A00000000000000" pitchFamily="2" charset="0"/>
      <p:bold r:id="rId20"/>
      <p:boldItalic r:id="rId21"/>
    </p:embeddedFont>
    <p:embeddedFont>
      <p:font typeface="Open Sans" panose="020B0606030504020204" pitchFamily="34" charset="0"/>
      <p:regular r:id="rId22"/>
      <p:bold r:id="rId23"/>
      <p:italic r:id="rId24"/>
      <p:boldItalic r:id="rId25"/>
    </p:embeddedFont>
    <p:embeddedFont>
      <p:font typeface="Open Sans SemiBold" panose="020B070603080402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0C792CA-69F9-48EB-AE1A-38FF82C19E1B}">
  <a:tblStyle styleId="{C0C792CA-69F9-48EB-AE1A-38FF82C19E1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15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35547" y="2577405"/>
            <a:ext cx="7720905" cy="310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020740" y="603944"/>
            <a:ext cx="4150518" cy="639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003366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Crop Disease Prediction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819525" y="1663005"/>
            <a:ext cx="45529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AI-Powered Disease Detection &amp; Management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483197" y="28250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1MS24MC045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2483197" y="3206055"/>
            <a:ext cx="722560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Krishna Harish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2483197" y="4006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Under the Guidance of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2483197" y="4387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Komala R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2483197" y="4768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Associate Professor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2483197" y="5149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Dept. of MCA, RIT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94CD1650-ED4A-C3EE-DB06-C046DE28834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Agenda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42950" y="28384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19150" y="283845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Introduction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42950" y="323850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19150" y="323850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Problem Statement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742950" y="36385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19150" y="363855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Motivation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742950" y="403860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819150" y="403860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Literature Review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742950" y="44386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819150" y="443865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Objectives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6496050" y="30384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6572250" y="303847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Functional Requirement Specifications (FRS)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496050" y="34385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572250" y="343852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Non-Functional Requirement Specifications (NFRS)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496050" y="38385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572250" y="383857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Plan for Future Work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496050" y="42386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572250" y="423862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References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B38FB2F0-55FF-A84F-5365-AF1233D8581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876425"/>
            <a:ext cx="52768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Introduction</a:t>
            </a:r>
            <a:endParaRPr/>
          </a:p>
        </p:txBody>
      </p:sp>
      <p:sp>
        <p:nvSpPr>
          <p:cNvPr id="130" name="Google Shape;130;p15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581025" y="1866900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Brief Introduction to the Problem Domain: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581025" y="4038600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Real-World Relevance:</a:t>
            </a:r>
            <a:endParaRPr/>
          </a:p>
        </p:txBody>
      </p:sp>
      <p:pic>
        <p:nvPicPr>
          <p:cNvPr id="133" name="Google Shape;13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72225" y="1914525"/>
            <a:ext cx="5200650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742950" y="23050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819150" y="2305050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Intersection of Agritech &amp; AI: Leveraging Deep Learning and AI to enable early and accurate crop disease detection.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742950" y="29908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819150" y="2990850"/>
            <a:ext cx="503872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Precision Disease Detection: Moving beyond manual inspection to AI-powered image recognition for instant disease identification.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742950" y="44767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819150" y="4476750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Democratizing Expertise: Making expert plant pathology accessible to all farmers through mobile technology.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742950" y="51625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819150" y="5162550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Crop Health Management: Enabling proactive disease management through early detection and treatment recommendations.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42" name="Google Shape;142;p15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59C3C405-9B38-5CDD-802B-7C32EBC5CFF8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066925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8875" y="2066925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4210050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8875" y="4210050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Statement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 txBox="1"/>
          <p:nvPr/>
        </p:nvSpPr>
        <p:spPr>
          <a:xfrm>
            <a:off x="581025" y="1476375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Farmers face significant challenges in timely crop disease identification due to: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819150" y="2266950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1. Limited Plant Pathology Expertise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819150" y="2752725"/>
            <a:ext cx="49339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Access to plant pathology experts is limited and expensive, leading to delayed diagnosis and treatment.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6477000" y="2266950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2. Manual Inspection Limitations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6477000" y="2752725"/>
            <a:ext cx="49339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Visual inspection is time-consuming, subjective, and often detects diseases too late for effective intervention.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819150" y="4410075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3. Disease Spread Speed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819150" y="4895850"/>
            <a:ext cx="49339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Crop diseases spread rapidly; delays in identification can result in significant yield losses across entire fields.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6477000" y="4410075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4. Resource Constraints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6477000" y="4895850"/>
            <a:ext cx="49339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Farmers need accessible, mobile-friendly solutions that work offline and on low-end devices in remote areas.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353FA6AC-7A0E-CA48-6374-66420A1370B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876425"/>
            <a:ext cx="52768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7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Motivation</a:t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581025" y="1666875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Why this project?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581025" y="3552825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Industry Relevance:</a:t>
            </a:r>
            <a:endParaRPr/>
          </a:p>
        </p:txBody>
      </p:sp>
      <p:pic>
        <p:nvPicPr>
          <p:cNvPr id="176" name="Google Shape;17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72225" y="1914525"/>
            <a:ext cx="5200650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7"/>
          <p:cNvSpPr txBox="1"/>
          <p:nvPr/>
        </p:nvSpPr>
        <p:spPr>
          <a:xfrm>
            <a:off x="742950" y="21050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819150" y="210502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To democratize plant disease expertise, ensuring all farmers can detect and manage diseases early.</a:t>
            </a: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742950" y="27908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819150" y="279082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To reduce crop losses by enabling rapid disease identification and treatment recommendations.</a:t>
            </a: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742950" y="39909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819150" y="399097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Supports food security by helping farmers protect their crops from disease outbreaks.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742950" y="46767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4" name="Google Shape;184;p17"/>
          <p:cNvSpPr txBox="1"/>
          <p:nvPr/>
        </p:nvSpPr>
        <p:spPr>
          <a:xfrm>
            <a:off x="819150" y="467677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Economic Impact: Potential 20-30% reduction in crop losses due to early disease detection.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85" name="Google Shape;185;p17"/>
          <p:cNvSpPr txBox="1"/>
          <p:nvPr/>
        </p:nvSpPr>
        <p:spPr>
          <a:xfrm>
            <a:off x="742950" y="53625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819150" y="536257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Productivity: Target 15-25% yield protection through timely disease management.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CB581510-AFC6-46C4-E3CC-ED1D10992796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76375"/>
            <a:ext cx="11029950" cy="299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8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Literature Review</a:t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7" name="Google Shape;197;p18"/>
          <p:cNvGraphicFramePr/>
          <p:nvPr/>
        </p:nvGraphicFramePr>
        <p:xfrm>
          <a:off x="590550" y="1485900"/>
          <a:ext cx="11010900" cy="2971800"/>
        </p:xfrm>
        <a:graphic>
          <a:graphicData uri="http://schemas.openxmlformats.org/drawingml/2006/table">
            <a:tbl>
              <a:tblPr firstRow="1" bandRow="1">
                <a:noFill/>
                <a:tableStyleId>{C0C792CA-69F9-48EB-AE1A-38FF82C19E1B}</a:tableStyleId>
              </a:tblPr>
              <a:tblGrid>
                <a:gridCol w="2752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4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3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Author(s) / Year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Aim &amp; Methodology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Outcome / Gap Identified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Balaguer et al.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Deep Learning for Plant Disease Detection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RAG is superior for dynamic data (weather). </a:t>
                      </a:r>
                      <a:r>
                        <a:rPr lang="en-US" sz="1350" b="0" i="1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Gap: Real-time accuracy on edge.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Singh et al.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Mobile-Based Crop Disease Diagnosis Systems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Success in chat interfaces. </a:t>
                      </a:r>
                      <a:r>
                        <a:rPr lang="en-US" sz="1350" b="0" i="1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Gap: Lack of robust dialect voice support.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Narisetti &amp; Bodapati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Transfer Learning for Disease Classification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 accuracy CNNs. </a:t>
                      </a:r>
                      <a:r>
                        <a:rPr lang="en-US" sz="1350" b="0" i="1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Gap: Optimization for offline/low-resource devices.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8" name="Google Shape;198;p18"/>
          <p:cNvSpPr/>
          <p:nvPr/>
        </p:nvSpPr>
        <p:spPr>
          <a:xfrm>
            <a:off x="590550" y="2824162"/>
            <a:ext cx="27527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3343275" y="2824162"/>
            <a:ext cx="44042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7747545" y="2824162"/>
            <a:ext cx="3853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590550" y="3633787"/>
            <a:ext cx="27527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3343275" y="3633787"/>
            <a:ext cx="44042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7747545" y="3633787"/>
            <a:ext cx="3853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590550" y="4443412"/>
            <a:ext cx="27527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3343275" y="4443412"/>
            <a:ext cx="44042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/>
          <p:nvPr/>
        </p:nvSpPr>
        <p:spPr>
          <a:xfrm>
            <a:off x="7747545" y="4443412"/>
            <a:ext cx="3853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85E438E8-69DD-489A-42E4-67BD75A0FD0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9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Objectives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742950" y="15144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 dirty="0"/>
          </a:p>
        </p:txBody>
      </p:sp>
      <p:sp>
        <p:nvSpPr>
          <p:cNvPr id="217" name="Google Shape;217;p19"/>
          <p:cNvSpPr txBox="1"/>
          <p:nvPr/>
        </p:nvSpPr>
        <p:spPr>
          <a:xfrm>
            <a:off x="819150" y="1514475"/>
            <a:ext cx="10791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Develop an Image-Based Disease Detection System: Mobile app with camera integration for instant disease identification (&gt;90% accuracy).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 dirty="0"/>
          </a:p>
        </p:txBody>
      </p:sp>
      <p:sp>
        <p:nvSpPr>
          <p:cNvPr id="218" name="Google Shape;218;p19"/>
          <p:cNvSpPr txBox="1"/>
          <p:nvPr/>
        </p:nvSpPr>
        <p:spPr>
          <a:xfrm>
            <a:off x="742950" y="22002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819150" y="22002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Implement Deep Learning Models: Train CNNs on diverse disease datasets with data augmentation for robust performance.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220" name="Google Shape;220;p19"/>
          <p:cNvSpPr txBox="1"/>
          <p:nvPr/>
        </p:nvSpPr>
        <p:spPr>
          <a:xfrm>
            <a:off x="742950" y="26003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21" name="Google Shape;221;p19"/>
          <p:cNvSpPr txBox="1"/>
          <p:nvPr/>
        </p:nvSpPr>
        <p:spPr>
          <a:xfrm>
            <a:off x="819150" y="26003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Deploy Edge AI Inference: Offline-capable TensorFlow Lite models for real-time disease detection on low-end mobile devices.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742950" y="335280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 dirty="0"/>
          </a:p>
        </p:txBody>
      </p:sp>
      <p:sp>
        <p:nvSpPr>
          <p:cNvPr id="223" name="Google Shape;223;p19"/>
          <p:cNvSpPr txBox="1"/>
          <p:nvPr/>
        </p:nvSpPr>
        <p:spPr>
          <a:xfrm>
            <a:off x="819150" y="32861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Provide Treatment Recommendations: Context-aware treatment suggestions based on disease type, crop stage, and severity.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endParaRPr dirty="0"/>
          </a:p>
        </p:txBody>
      </p:sp>
      <p:sp>
        <p:nvSpPr>
          <p:cNvPr id="224" name="Google Shape;224;p19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555B5365-F2EA-099C-2D2A-F911BD112A9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76375"/>
            <a:ext cx="11029950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0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Requirement Specifications</a:t>
            </a:r>
            <a:endParaRPr/>
          </a:p>
        </p:txBody>
      </p:sp>
      <p:sp>
        <p:nvSpPr>
          <p:cNvPr id="233" name="Google Shape;233;p20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4" name="Google Shape;234;p20"/>
          <p:cNvGraphicFramePr/>
          <p:nvPr/>
        </p:nvGraphicFramePr>
        <p:xfrm>
          <a:off x="590550" y="1485900"/>
          <a:ext cx="11010900" cy="2752750"/>
        </p:xfrm>
        <a:graphic>
          <a:graphicData uri="http://schemas.openxmlformats.org/drawingml/2006/table">
            <a:tbl>
              <a:tblPr firstRow="1" bandRow="1">
                <a:noFill/>
                <a:tableStyleId>{C0C792CA-69F9-48EB-AE1A-38FF82C19E1B}</a:tableStyleId>
              </a:tblPr>
              <a:tblGrid>
                <a:gridCol w="116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1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FR No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Feature Name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Description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Priority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Image Capture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High-quality image capture with guidelines for optimal lighting and angle.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Disease Detection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Identify diseases (Blight, Rust, Mildew, Spots) with confidence scores.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Treatment Recommendations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Provide actionable treatment plans based on disease severity and type.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Offline Mode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Core diagnostics must work without internet.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Medium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5" name="Google Shape;235;p20"/>
          <p:cNvSpPr/>
          <p:nvPr/>
        </p:nvSpPr>
        <p:spPr>
          <a:xfrm>
            <a:off x="590550" y="256698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1752302" y="256698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0"/>
          <p:cNvSpPr/>
          <p:nvPr/>
        </p:nvSpPr>
        <p:spPr>
          <a:xfrm>
            <a:off x="4197548" y="256698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10250090" y="256698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590550" y="311943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1752302" y="311943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4197548" y="311943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10250090" y="311943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590550" y="367188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1752302" y="367188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4197548" y="367188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10250090" y="367188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590550" y="422433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0"/>
          <p:cNvSpPr/>
          <p:nvPr/>
        </p:nvSpPr>
        <p:spPr>
          <a:xfrm>
            <a:off x="1752302" y="422433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4197548" y="422433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0"/>
          <p:cNvSpPr/>
          <p:nvPr/>
        </p:nvSpPr>
        <p:spPr>
          <a:xfrm>
            <a:off x="10250090" y="422433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0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14D66666-D46B-58FD-57EA-98D2FB46D2B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76375"/>
            <a:ext cx="11029950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1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Non-Functional Requirement Specifications</a:t>
            </a:r>
            <a:endParaRPr/>
          </a:p>
        </p:txBody>
      </p:sp>
      <p:sp>
        <p:nvSpPr>
          <p:cNvPr id="260" name="Google Shape;260;p21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1" name="Google Shape;261;p21"/>
          <p:cNvGraphicFramePr/>
          <p:nvPr/>
        </p:nvGraphicFramePr>
        <p:xfrm>
          <a:off x="590550" y="1485900"/>
          <a:ext cx="11010925" cy="2752750"/>
        </p:xfrm>
        <a:graphic>
          <a:graphicData uri="http://schemas.openxmlformats.org/drawingml/2006/table">
            <a:tbl>
              <a:tblPr firstRow="1" bandRow="1">
                <a:noFill/>
                <a:tableStyleId>{C0C792CA-69F9-48EB-AE1A-38FF82C19E1B}</a:tableStyleId>
              </a:tblPr>
              <a:tblGrid>
                <a:gridCol w="153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8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51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NFR No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Type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Description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Usability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"Image-First" design with simple, intuitive UI for all literacy levels.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Performance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Low latency (&lt;2s) for disease detection on edge devices; Optimized CNN inference.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Reliability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&gt;88% accuracy in variable field lighting conditions.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Scalability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Backend supports concurrent users via Vector DB.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2" name="Google Shape;262;p21"/>
          <p:cNvSpPr/>
          <p:nvPr/>
        </p:nvSpPr>
        <p:spPr>
          <a:xfrm>
            <a:off x="590550" y="256698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1"/>
          <p:cNvSpPr/>
          <p:nvPr/>
        </p:nvSpPr>
        <p:spPr>
          <a:xfrm>
            <a:off x="2121842" y="256698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1"/>
          <p:cNvSpPr/>
          <p:nvPr/>
        </p:nvSpPr>
        <p:spPr>
          <a:xfrm>
            <a:off x="4250382" y="256698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590550" y="311943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2121842" y="311943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1"/>
          <p:cNvSpPr/>
          <p:nvPr/>
        </p:nvSpPr>
        <p:spPr>
          <a:xfrm>
            <a:off x="4250382" y="311943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1"/>
          <p:cNvSpPr/>
          <p:nvPr/>
        </p:nvSpPr>
        <p:spPr>
          <a:xfrm>
            <a:off x="590550" y="367188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1"/>
          <p:cNvSpPr/>
          <p:nvPr/>
        </p:nvSpPr>
        <p:spPr>
          <a:xfrm>
            <a:off x="2121842" y="367188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4250382" y="367188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590550" y="422433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2121842" y="422433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4250382" y="422433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77911642-FB17-C33A-DDE3-040A10AF574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12033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43042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74050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2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Plan for Future Work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581025" y="2711053"/>
            <a:ext cx="1102995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2"/>
          <p:cNvSpPr txBox="1"/>
          <p:nvPr/>
        </p:nvSpPr>
        <p:spPr>
          <a:xfrm>
            <a:off x="737633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</a:t>
            </a:r>
            <a:endParaRPr/>
          </a:p>
        </p:txBody>
      </p:sp>
      <p:sp>
        <p:nvSpPr>
          <p:cNvPr id="289" name="Google Shape;289;p22"/>
          <p:cNvSpPr txBox="1"/>
          <p:nvPr/>
        </p:nvSpPr>
        <p:spPr>
          <a:xfrm>
            <a:off x="790575" y="2536180"/>
            <a:ext cx="21176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Concept, Design &amp; Feasibility Analysis</a:t>
            </a:r>
            <a:endParaRPr/>
          </a:p>
        </p:txBody>
      </p:sp>
      <p:sp>
        <p:nvSpPr>
          <p:cNvPr id="290" name="Google Shape;290;p22"/>
          <p:cNvSpPr txBox="1"/>
          <p:nvPr/>
        </p:nvSpPr>
        <p:spPr>
          <a:xfrm>
            <a:off x="790575" y="31457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6A34A"/>
                </a:solidFill>
                <a:latin typeface="Open Sans"/>
                <a:ea typeface="Open Sans"/>
                <a:cs typeface="Open Sans"/>
                <a:sym typeface="Open Sans"/>
              </a:rPr>
              <a:t>(Completed)</a:t>
            </a:r>
            <a:endParaRPr/>
          </a:p>
        </p:txBody>
      </p:sp>
      <p:sp>
        <p:nvSpPr>
          <p:cNvPr id="291" name="Google Shape;291;p22"/>
          <p:cNvSpPr txBox="1"/>
          <p:nvPr/>
        </p:nvSpPr>
        <p:spPr>
          <a:xfrm>
            <a:off x="3568641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II</a:t>
            </a:r>
            <a:endParaRPr/>
          </a:p>
        </p:txBody>
      </p:sp>
      <p:sp>
        <p:nvSpPr>
          <p:cNvPr id="292" name="Google Shape;292;p22"/>
          <p:cNvSpPr txBox="1"/>
          <p:nvPr/>
        </p:nvSpPr>
        <p:spPr>
          <a:xfrm>
            <a:off x="3621583" y="25361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Implementation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3621583" y="2898130"/>
            <a:ext cx="21176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CNN Model Training &amp; Mobile App Development</a:t>
            </a:r>
            <a:endParaRPr/>
          </a:p>
        </p:txBody>
      </p:sp>
      <p:sp>
        <p:nvSpPr>
          <p:cNvPr id="294" name="Google Shape;294;p22"/>
          <p:cNvSpPr txBox="1"/>
          <p:nvPr/>
        </p:nvSpPr>
        <p:spPr>
          <a:xfrm>
            <a:off x="6399650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III</a:t>
            </a:r>
            <a:endParaRPr/>
          </a:p>
        </p:txBody>
      </p:sp>
      <p:sp>
        <p:nvSpPr>
          <p:cNvPr id="295" name="Google Shape;295;p22"/>
          <p:cNvSpPr txBox="1"/>
          <p:nvPr/>
        </p:nvSpPr>
        <p:spPr>
          <a:xfrm>
            <a:off x="6452592" y="25361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Testing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6452592" y="2898130"/>
            <a:ext cx="21176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Model accuracy validation &amp; Field testing with farmers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9230658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IV</a:t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9283600" y="25361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Deployment</a:t>
            </a:r>
            <a:endParaRPr/>
          </a:p>
        </p:txBody>
      </p:sp>
      <p:sp>
        <p:nvSpPr>
          <p:cNvPr id="299" name="Google Shape;299;p22"/>
          <p:cNvSpPr txBox="1"/>
          <p:nvPr/>
        </p:nvSpPr>
        <p:spPr>
          <a:xfrm>
            <a:off x="9283600" y="2898130"/>
            <a:ext cx="21176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Optimized TFLite deployment &amp; Regional disease database expansion</a:t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539E43BC-6E4A-5B10-3866-906369860767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3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References</a:t>
            </a:r>
            <a:endParaRPr/>
          </a:p>
        </p:txBody>
      </p:sp>
      <p:sp>
        <p:nvSpPr>
          <p:cNvPr id="308" name="Google Shape;308;p23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 txBox="1"/>
          <p:nvPr/>
        </p:nvSpPr>
        <p:spPr>
          <a:xfrm>
            <a:off x="742950" y="14763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0" name="Google Shape;310;p23"/>
          <p:cNvSpPr txBox="1"/>
          <p:nvPr/>
        </p:nvSpPr>
        <p:spPr>
          <a:xfrm>
            <a:off x="819150" y="14763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Balaguer, A., et al. (2024). 'RAG vs Fine-tuning: Pipelines in Agriculture.'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arXiv Preprint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1" name="Google Shape;311;p23"/>
          <p:cNvSpPr txBox="1"/>
          <p:nvPr/>
        </p:nvSpPr>
        <p:spPr>
          <a:xfrm>
            <a:off x="742950" y="18764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2" name="Google Shape;312;p23"/>
          <p:cNvSpPr txBox="1"/>
          <p:nvPr/>
        </p:nvSpPr>
        <p:spPr>
          <a:xfrm>
            <a:off x="819150" y="18764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Singh, N., et al. (2024). 'Farmer.Chat: Scaling AI-Powered Agricultural Services.'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IFPRI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3" name="Google Shape;313;p23"/>
          <p:cNvSpPr txBox="1"/>
          <p:nvPr/>
        </p:nvSpPr>
        <p:spPr>
          <a:xfrm>
            <a:off x="742950" y="22764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4" name="Google Shape;314;p23"/>
          <p:cNvSpPr txBox="1"/>
          <p:nvPr/>
        </p:nvSpPr>
        <p:spPr>
          <a:xfrm>
            <a:off x="819150" y="22764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Pinninti, S. K., &amp; Kumar, G. S. (2025). 'AgriVoice: Image Capture &amp; Text Assistant.'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JETIR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742950" y="26765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819150" y="26765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Narisetti, N., &amp; Bodapati, R. (2024). 'Deep Learning-Based Real-Time Plant Leaf Disease Prediction.'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IJIRT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7" name="Google Shape;317;p23"/>
          <p:cNvSpPr txBox="1"/>
          <p:nvPr/>
        </p:nvSpPr>
        <p:spPr>
          <a:xfrm>
            <a:off x="742950" y="30765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819150" y="30765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Chakravorty, C., et al. (2025). Augmented Reality/Virtual Reality for Immersive Collaboration.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SN COMPUT. SCI.</a:t>
            </a:r>
            <a:endParaRPr/>
          </a:p>
        </p:txBody>
      </p:sp>
      <p:sp>
        <p:nvSpPr>
          <p:cNvPr id="319" name="Google Shape;319;p23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9C0B766A-1C31-77CC-DF14-6FB4BE69856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Google Shape;325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9525"/>
            <a:ext cx="12172950" cy="683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30924" y="1962150"/>
            <a:ext cx="73015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4"/>
          <p:cNvSpPr txBox="1"/>
          <p:nvPr/>
        </p:nvSpPr>
        <p:spPr>
          <a:xfrm>
            <a:off x="3945731" y="3105150"/>
            <a:ext cx="4300537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FFFFF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Thank You</a:t>
            </a:r>
            <a:endParaRPr/>
          </a:p>
        </p:txBody>
      </p:sp>
      <p:sp>
        <p:nvSpPr>
          <p:cNvPr id="329" name="Google Shape;329;p24"/>
          <p:cNvSpPr txBox="1"/>
          <p:nvPr/>
        </p:nvSpPr>
        <p:spPr>
          <a:xfrm>
            <a:off x="5510212" y="4438650"/>
            <a:ext cx="1171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Open Sans"/>
                <a:ea typeface="Open Sans"/>
                <a:cs typeface="Open Sans"/>
                <a:sym typeface="Open Sans"/>
              </a:rPr>
              <a:t>Questions?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5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5"/>
          <p:cNvSpPr/>
          <p:nvPr/>
        </p:nvSpPr>
        <p:spPr>
          <a:xfrm>
            <a:off x="581025" y="1285875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5"/>
          <p:cNvSpPr/>
          <p:nvPr/>
        </p:nvSpPr>
        <p:spPr>
          <a:xfrm>
            <a:off x="581025" y="2057400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581025" y="2828925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/>
          <p:nvPr/>
        </p:nvSpPr>
        <p:spPr>
          <a:xfrm>
            <a:off x="581025" y="20478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5"/>
          <p:cNvSpPr/>
          <p:nvPr/>
        </p:nvSpPr>
        <p:spPr>
          <a:xfrm>
            <a:off x="581025" y="20478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5"/>
          <p:cNvSpPr/>
          <p:nvPr/>
        </p:nvSpPr>
        <p:spPr>
          <a:xfrm>
            <a:off x="581025" y="2819400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5"/>
          <p:cNvSpPr/>
          <p:nvPr/>
        </p:nvSpPr>
        <p:spPr>
          <a:xfrm>
            <a:off x="581025" y="2819400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581025" y="359092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581025" y="359092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5" name="Google Shape;34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2875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5"/>
          <p:cNvSpPr txBox="1"/>
          <p:nvPr/>
        </p:nvSpPr>
        <p:spPr>
          <a:xfrm>
            <a:off x="1676400" y="1435893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https://upload.wikimedia.org/wikipedia/en/5/5a/Ramaiah_Institutions_Logo.png</a:t>
            </a:r>
            <a:endParaRPr dirty="0"/>
          </a:p>
        </p:txBody>
      </p:sp>
      <p:sp>
        <p:nvSpPr>
          <p:cNvPr id="347" name="Google Shape;347;p25"/>
          <p:cNvSpPr txBox="1"/>
          <p:nvPr/>
        </p:nvSpPr>
        <p:spPr>
          <a:xfrm>
            <a:off x="1676400" y="1669256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en.wikipedia.org</a:t>
            </a:r>
            <a:endParaRPr dirty="0"/>
          </a:p>
        </p:txBody>
      </p:sp>
      <p:pic>
        <p:nvPicPr>
          <p:cNvPr id="348" name="Google Shape;348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20027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5"/>
          <p:cNvSpPr txBox="1"/>
          <p:nvPr/>
        </p:nvSpPr>
        <p:spPr>
          <a:xfrm>
            <a:off x="1676400" y="2207418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https://blogs.adb.org/sites/blogs/files/file-attachments/MfUMZClDyHeukvt1MQJBDiWbJX52cYlMeoaGgI7ZM4M.jpg</a:t>
            </a:r>
            <a:endParaRPr/>
          </a:p>
        </p:txBody>
      </p:sp>
      <p:sp>
        <p:nvSpPr>
          <p:cNvPr id="350" name="Google Shape;350;p25"/>
          <p:cNvSpPr txBox="1"/>
          <p:nvPr/>
        </p:nvSpPr>
        <p:spPr>
          <a:xfrm>
            <a:off x="1676400" y="2440781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blogs.adb.org</a:t>
            </a:r>
            <a:endParaRPr/>
          </a:p>
        </p:txBody>
      </p:sp>
      <p:pic>
        <p:nvPicPr>
          <p:cNvPr id="351" name="Google Shape;351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971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5"/>
          <p:cNvSpPr txBox="1"/>
          <p:nvPr/>
        </p:nvSpPr>
        <p:spPr>
          <a:xfrm>
            <a:off x="1676400" y="2978943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https://img.freepik.com/premium-photo/indian-farmer-showing-smartphone-cotton-agriculture-field_75648-12479.jpg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1676400" y="3212306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www.freepik.com</a:t>
            </a:r>
            <a:endParaRPr/>
          </a:p>
        </p:txBody>
      </p:sp>
      <p:pic>
        <p:nvPicPr>
          <p:cNvPr id="354" name="Google Shape;354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82905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25"/>
          <p:cNvSpPr txBox="1"/>
          <p:nvPr/>
        </p:nvSpPr>
        <p:spPr>
          <a:xfrm>
            <a:off x="1676400" y="3743325"/>
            <a:ext cx="993457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https://stg-uploads.slidenest.com/template_3314/templateColor_3201/previewImages/planning-a-sustainable-garden-powerpoint-google-slides-keynote-presentation-template-25.jpeg</a:t>
            </a:r>
            <a:endParaRPr/>
          </a:p>
        </p:txBody>
      </p:sp>
      <p:sp>
        <p:nvSpPr>
          <p:cNvPr id="356" name="Google Shape;356;p25"/>
          <p:cNvSpPr txBox="1"/>
          <p:nvPr/>
        </p:nvSpPr>
        <p:spPr>
          <a:xfrm>
            <a:off x="1676400" y="4162425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slidenest.com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872</Words>
  <Application>Microsoft Office PowerPoint</Application>
  <PresentationFormat>Widescreen</PresentationFormat>
  <Paragraphs>155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Merriweather</vt:lpstr>
      <vt:lpstr>Open Sans SemiBold</vt:lpstr>
      <vt:lpstr>Calibri</vt:lpstr>
      <vt:lpstr>Merriweather Black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Krishna Harish</cp:lastModifiedBy>
  <cp:revision>2</cp:revision>
  <dcterms:modified xsi:type="dcterms:W3CDTF">2026-01-02T10:48:59Z</dcterms:modified>
</cp:coreProperties>
</file>