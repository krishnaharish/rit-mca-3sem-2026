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Merriweather" panose="00000500000000000000" pitchFamily="2" charset="0"/>
      <p:regular r:id="rId16"/>
      <p:bold r:id="rId17"/>
      <p:italic r:id="rId18"/>
      <p:boldItalic r:id="rId19"/>
    </p:embeddedFont>
    <p:embeddedFont>
      <p:font typeface="Merriweather Black" panose="00000A00000000000000" pitchFamily="2" charset="0"/>
      <p:bold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 SemiBold" panose="020B07060308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C792CA-69F9-48EB-AE1A-38FF82C19E1B}">
  <a:tblStyle styleId="{C0C792CA-69F9-48EB-AE1A-38FF82C19E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5547" y="2577405"/>
            <a:ext cx="7720905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020740" y="603944"/>
            <a:ext cx="4150518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003366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AI Agronomist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19525" y="1663005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Generative AI for Sustainable Agriculture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483197" y="2825055"/>
            <a:ext cx="72256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1MS24MC045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483197" y="3206055"/>
            <a:ext cx="72256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Krishna Harish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483197" y="4006155"/>
            <a:ext cx="72256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Under the Guidance of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483197" y="4387155"/>
            <a:ext cx="72256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Komala 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483197" y="4768155"/>
            <a:ext cx="72256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Associate Professor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483197" y="5149155"/>
            <a:ext cx="72256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Dept. of MCA, RIT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94CD1650-ED4A-C3EE-DB06-C046DE28834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Agenda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42950" y="283845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19150" y="2838450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42950" y="323850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19150" y="3238500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42950" y="363855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19150" y="3638550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Motivation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42950" y="403860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19150" y="4038600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Literature Review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42950" y="443865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19150" y="4438650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Objectives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496050" y="3038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72250" y="3038475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Functional Requirement Specifications (FRS)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496050" y="34385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72250" y="3438525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Non-Functional Requirement Specifications (NFRS)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496050" y="38385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572250" y="3838575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Plan for Future Work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496050" y="42386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72250" y="4238625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References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B38FB2F0-55FF-A84F-5365-AF1233D8581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76425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81025" y="1866900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Brief Introduction to the Problem Domain: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81025" y="4038600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Real-World Relevance:</a:t>
            </a:r>
            <a:endParaRPr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1914525"/>
            <a:ext cx="52006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742950" y="230505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19150" y="2305050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Intersection of Agritech &amp; AI: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Leveraging Generative AI to bridge the critical information gap for farmers.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42950" y="299085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19150" y="2990850"/>
            <a:ext cx="50387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Hyper-Localized Insights: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Moving beyond generic advice to context-aware data regarding weather, soil, and crops.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42950" y="447675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19150" y="4476750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Democratizing Knowledge: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Making expert agronomy accessible to smallholder farmers.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742950" y="516255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19150" y="5162550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Climate Resilience: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Adapting to changing patterns via data-driven decisions.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59C3C405-9B38-5CDD-802B-7C32EBC5CFF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066925"/>
            <a:ext cx="53721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2066925"/>
            <a:ext cx="53721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210050"/>
            <a:ext cx="53721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4210050"/>
            <a:ext cx="53721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81025" y="1476375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Smallholder farmers face significant barriers in accessing accurate advice due to: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19150" y="2266950"/>
            <a:ext cx="5180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1. Generic AI Hallucinations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19150" y="2752725"/>
            <a:ext cx="4933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Standard LLMs lack regional context and often "invent" facts, leading to unreliable and potentially harmful advice.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477000" y="2266950"/>
            <a:ext cx="5180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2. Language Barriers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477000" y="2752725"/>
            <a:ext cx="49339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Most digital tools are English-first, while rural farmers predominantly speak diverse local dialects.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19150" y="4410075"/>
            <a:ext cx="5180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3. Data Latency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19150" y="4895850"/>
            <a:ext cx="4933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Models rely on old training data, missing crucial live updates like sudden weather changes or government schemes.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477000" y="4410075"/>
            <a:ext cx="5180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4. Hardware Constraints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477000" y="4895850"/>
            <a:ext cx="4933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Existing solutions require high-end hardware, whereas farmers typically use low-end Android devices with poor connectivity.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353FA6AC-7A0E-CA48-6374-66420A1370B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76425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Motivation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581025" y="1666875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Why this project?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81025" y="3552825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Industry Relevance:</a:t>
            </a:r>
            <a:endParaRPr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1914525"/>
            <a:ext cx="52006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742950" y="21050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19150" y="2105025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To bridge the </a:t>
            </a: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Digital Divide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, ensuring no farmer is left behind due to literacy barriers.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42950" y="27908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19150" y="2790825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To address the urgent need for </a:t>
            </a: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Climate-Resilient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farming practices.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42950" y="39909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19150" y="3990975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Aligns with "Digital Public Infrastructure" initiatives (e.g., Digital India).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742950" y="46767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819150" y="4676775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Economic Impact: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Potential 15% reduction in input costs.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742950" y="53625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819150" y="5362575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Productivity: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Target 20% yield increase via precision timing.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CB581510-AFC6-46C4-E3CC-ED1D1099279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76375"/>
            <a:ext cx="1102995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Review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18"/>
          <p:cNvGraphicFramePr/>
          <p:nvPr/>
        </p:nvGraphicFramePr>
        <p:xfrm>
          <a:off x="590550" y="1485900"/>
          <a:ext cx="11010900" cy="2971800"/>
        </p:xfrm>
        <a:graphic>
          <a:graphicData uri="http://schemas.openxmlformats.org/drawingml/2006/table">
            <a:tbl>
              <a:tblPr firstRow="1" bandRow="1">
                <a:noFill/>
                <a:tableStyleId>{C0C792CA-69F9-48EB-AE1A-38FF82C19E1B}</a:tableStyleId>
              </a:tblPr>
              <a:tblGrid>
                <a:gridCol w="275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Author(s)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Aim &amp; Methodology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Outcome / Gap Identified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Balaguer et al. (2024)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RAG vs Fine-tuning pipelines in Agriculture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RAG is superior for dynamic data (weather). </a:t>
                      </a:r>
                      <a:r>
                        <a:rPr lang="en-US" sz="1350" b="0" i="1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Gap: Real-time accuracy on edge.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Singh et al. (2024)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Farmer.Chat: Scaling AI-Powered Services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Success in chat interfaces. </a:t>
                      </a:r>
                      <a:r>
                        <a:rPr lang="en-US" sz="1350" b="0" i="1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Gap: Lack of robust dialect voice support.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Narisetti &amp; Bodapati (2024)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Learning for Leaf Disease Prediction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 accuracy CNNs. </a:t>
                      </a:r>
                      <a:r>
                        <a:rPr lang="en-US" sz="1350" b="0" i="1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Gap: Optimization for offline/low-resource devices.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8" name="Google Shape;198;p18"/>
          <p:cNvSpPr/>
          <p:nvPr/>
        </p:nvSpPr>
        <p:spPr>
          <a:xfrm>
            <a:off x="590550" y="2824162"/>
            <a:ext cx="27527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343275" y="2824162"/>
            <a:ext cx="440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7747545" y="2824162"/>
            <a:ext cx="38539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590550" y="3633787"/>
            <a:ext cx="27527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3343275" y="3633787"/>
            <a:ext cx="440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747545" y="3633787"/>
            <a:ext cx="38539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590550" y="4443412"/>
            <a:ext cx="27527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343275" y="4443412"/>
            <a:ext cx="440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7747545" y="4443412"/>
            <a:ext cx="38539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85E438E8-69DD-489A-42E4-67BD75A0FD0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Objectives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742950" y="1514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dirty="0"/>
          </a:p>
        </p:txBody>
      </p:sp>
      <p:sp>
        <p:nvSpPr>
          <p:cNvPr id="217" name="Google Shape;217;p19"/>
          <p:cNvSpPr txBox="1"/>
          <p:nvPr/>
        </p:nvSpPr>
        <p:spPr>
          <a:xfrm>
            <a:off x="819150" y="1514475"/>
            <a:ext cx="10791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Develop a Context-Aware Voice Assistant: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Hands-free, multilingual interface supporting local dialects (&gt;90% intent recognition).</a:t>
            </a:r>
            <a:endParaRPr dirty="0"/>
          </a:p>
        </p:txBody>
      </p:sp>
      <p:sp>
        <p:nvSpPr>
          <p:cNvPr id="218" name="Google Shape;218;p19"/>
          <p:cNvSpPr txBox="1"/>
          <p:nvPr/>
        </p:nvSpPr>
        <p:spPr>
          <a:xfrm>
            <a:off x="742950" y="22002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819150" y="2200275"/>
            <a:ext cx="1079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Implement RAG Pipeline: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Fetch verified, real-time facts (Weather, Soil, Schemes) to eliminate hallucinations.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742950" y="26003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819150" y="2600325"/>
            <a:ext cx="1079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Deploy Edge AI Diagnostics: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Offline-capable Computer Vision (CNN) to diagnose crop diseases directly on mobile devices.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742950" y="335280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dirty="0"/>
          </a:p>
        </p:txBody>
      </p:sp>
      <p:sp>
        <p:nvSpPr>
          <p:cNvPr id="223" name="Google Shape;223;p19"/>
          <p:cNvSpPr txBox="1"/>
          <p:nvPr/>
        </p:nvSpPr>
        <p:spPr>
          <a:xfrm>
            <a:off x="819150" y="3286125"/>
            <a:ext cx="1079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Optimize for Low-Resource Hardware: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Mobile-first strategy (Flutter,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TFLite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) for low-end Android phones.</a:t>
            </a:r>
            <a:endParaRPr dirty="0"/>
          </a:p>
        </p:txBody>
      </p:sp>
      <p:sp>
        <p:nvSpPr>
          <p:cNvPr id="224" name="Google Shape;224;p19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555B5365-F2EA-099C-2D2A-F911BD112A9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76375"/>
            <a:ext cx="1102995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Requirement Specifications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4" name="Google Shape;234;p20"/>
          <p:cNvGraphicFramePr/>
          <p:nvPr/>
        </p:nvGraphicFramePr>
        <p:xfrm>
          <a:off x="590550" y="1485900"/>
          <a:ext cx="11010900" cy="2752750"/>
        </p:xfrm>
        <a:graphic>
          <a:graphicData uri="http://schemas.openxmlformats.org/drawingml/2006/table">
            <a:tbl>
              <a:tblPr firstRow="1" bandRow="1">
                <a:noFill/>
                <a:tableStyleId>{C0C792CA-69F9-48EB-AE1A-38FF82C19E1B}</a:tableStyleId>
              </a:tblPr>
              <a:tblGrid>
                <a:gridCol w="116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FR 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Feature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Priority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FR-001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Multilingual Voice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Input/Output in native dialects (Bhashini/Google).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FR-002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Visual Diagnosis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Capture image &amp; detect disease (Rust, Blight).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FR-003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Advisory Engine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Synthesize weather + soil data for schedules.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FR-004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Offline Mode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Core diagnostics must work without internet.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5" name="Google Shape;235;p20"/>
          <p:cNvSpPr/>
          <p:nvPr/>
        </p:nvSpPr>
        <p:spPr>
          <a:xfrm>
            <a:off x="590550" y="2566987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752302" y="2566987"/>
            <a:ext cx="24452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197548" y="2566987"/>
            <a:ext cx="6052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10250090" y="2566987"/>
            <a:ext cx="1351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90550" y="3119437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1752302" y="3119437"/>
            <a:ext cx="24452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197548" y="3119437"/>
            <a:ext cx="6052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0250090" y="3119437"/>
            <a:ext cx="1351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590550" y="3671887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752302" y="3671887"/>
            <a:ext cx="24452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197548" y="3671887"/>
            <a:ext cx="6052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10250090" y="3671887"/>
            <a:ext cx="1351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590550" y="4224337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1752302" y="4224337"/>
            <a:ext cx="24452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197548" y="4224337"/>
            <a:ext cx="6052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10250090" y="4224337"/>
            <a:ext cx="1351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14D66666-D46B-58FD-57EA-98D2FB46D2B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76375"/>
            <a:ext cx="1102995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Non-Functional Requirement Specifications</a:t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21"/>
          <p:cNvGraphicFramePr/>
          <p:nvPr/>
        </p:nvGraphicFramePr>
        <p:xfrm>
          <a:off x="590550" y="1485900"/>
          <a:ext cx="11010925" cy="2752750"/>
        </p:xfrm>
        <a:graphic>
          <a:graphicData uri="http://schemas.openxmlformats.org/drawingml/2006/table">
            <a:tbl>
              <a:tblPr firstRow="1" bandRow="1">
                <a:noFill/>
                <a:tableStyleId>{C0C792CA-69F9-48EB-AE1A-38FF82C19E1B}</a:tableStyleId>
              </a:tblPr>
              <a:tblGrid>
                <a:gridCol w="153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NFR 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NFR-001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"Voice-First" design for low-literacy users.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NFR-002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Performance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 latency on edge devices; Optimized RAG queries.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NFR-003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Reliability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&gt;88% accuracy in variable field lighting conditions.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NFR-004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Backend supports concurrent users via Vector DB.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2" name="Google Shape;262;p21"/>
          <p:cNvSpPr/>
          <p:nvPr/>
        </p:nvSpPr>
        <p:spPr>
          <a:xfrm>
            <a:off x="590550" y="2566987"/>
            <a:ext cx="15312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2121842" y="2566987"/>
            <a:ext cx="2128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250382" y="2566987"/>
            <a:ext cx="73510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90550" y="3119437"/>
            <a:ext cx="15312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2121842" y="3119437"/>
            <a:ext cx="2128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250382" y="3119437"/>
            <a:ext cx="73510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90550" y="3671887"/>
            <a:ext cx="15312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121842" y="3671887"/>
            <a:ext cx="2128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250382" y="3671887"/>
            <a:ext cx="73510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90550" y="4224337"/>
            <a:ext cx="15312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2121842" y="4224337"/>
            <a:ext cx="2128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250382" y="4224337"/>
            <a:ext cx="73510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77911642-FB17-C33A-DDE3-040A10AF574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762125"/>
            <a:ext cx="2536775" cy="193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2033" y="1762125"/>
            <a:ext cx="2536775" cy="193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3042" y="1762125"/>
            <a:ext cx="2536775" cy="193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4050" y="1762125"/>
            <a:ext cx="2536775" cy="193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Plan for Future Work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581025" y="2711053"/>
            <a:ext cx="1102995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737633" y="2174230"/>
            <a:ext cx="222355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Phase I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790575" y="2536180"/>
            <a:ext cx="2117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Concept, Design &amp; Feasibility Analysis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790575" y="3145780"/>
            <a:ext cx="2117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rPr>
              <a:t>(Completed)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3568641" y="2174230"/>
            <a:ext cx="222355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Phase II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3621583" y="2536180"/>
            <a:ext cx="2117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Implementation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3621583" y="2898130"/>
            <a:ext cx="21176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Flutter Frontend &amp; FastAPI Backend Integration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399650" y="2174230"/>
            <a:ext cx="222355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Phase III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6452592" y="2536180"/>
            <a:ext cx="2117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Testing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452592" y="2898130"/>
            <a:ext cx="21176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Dialect accuracy checks &amp; User feedback loops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9230658" y="2174230"/>
            <a:ext cx="222355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Phase IV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9283600" y="2536180"/>
            <a:ext cx="2117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Deployment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283600" y="2898130"/>
            <a:ext cx="21176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Offline TFLite models &amp; Field Pilots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539E43BC-6E4A-5B10-3866-906369860767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6372225"/>
            <a:ext cx="12172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742950" y="14763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819150" y="1476375"/>
            <a:ext cx="1079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Balaguer, A., et al. (2024). 'RAG vs Fine-tuning: Pipelines in Agriculture.'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arXiv Preprint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742950" y="18764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819150" y="1876425"/>
            <a:ext cx="1079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Singh, N., et al. (2024). 'Farmer.Chat: Scaling AI-Powered Agricultural Services.'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IFPRI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742950" y="2276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819150" y="2276475"/>
            <a:ext cx="1079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Pinninti, S. K., &amp; Kumar, G. S. (2025). 'AgriVoice: Multilingual Voice &amp; Text Assistant.'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JETIR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742950" y="26765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819150" y="2676525"/>
            <a:ext cx="1079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Narisetti, N., &amp; Bodapati, R. (2024). 'Deep Learning-Based Real-Time Plant Leaf Disease Prediction.'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IJIRT</a:t>
            </a: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742950" y="30765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819150" y="3076575"/>
            <a:ext cx="1079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Chakravorty, C., et al. (2025). Augmented Reality/Virtual Reality for Immersive Collaboration.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SN COMPUT. SCI.</a:t>
            </a:r>
            <a:endParaRPr/>
          </a:p>
        </p:txBody>
      </p:sp>
      <p:sp>
        <p:nvSpPr>
          <p:cNvPr id="319" name="Google Shape;319;p23"/>
          <p:cNvSpPr/>
          <p:nvPr/>
        </p:nvSpPr>
        <p:spPr>
          <a:xfrm>
            <a:off x="9525" y="9525"/>
            <a:ext cx="121729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7;p13" title="rit_logo.png">
            <a:extLst>
              <a:ext uri="{FF2B5EF4-FFF2-40B4-BE49-F238E27FC236}">
                <a16:creationId xmlns:a16="http://schemas.microsoft.com/office/drawing/2014/main" id="{9C0B766A-1C31-77CC-DF14-6FB4BE69856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25"/>
            <a:ext cx="1141358" cy="10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0924" y="1962150"/>
            <a:ext cx="7301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4"/>
          <p:cNvSpPr txBox="1"/>
          <p:nvPr/>
        </p:nvSpPr>
        <p:spPr>
          <a:xfrm>
            <a:off x="3945731" y="3105150"/>
            <a:ext cx="43005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Thank You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5510212" y="4438650"/>
            <a:ext cx="1171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/>
          <p:nvPr/>
        </p:nvSpPr>
        <p:spPr>
          <a:xfrm>
            <a:off x="1533525" y="390525"/>
            <a:ext cx="105813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581025" y="9810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581025" y="12858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581025" y="205740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581025" y="282892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581025" y="20478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581025" y="20478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581025" y="28194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581025" y="28194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581025" y="35909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581025" y="35909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28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1676400" y="143589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https://upload.wikimedia.org/wikipedia/en/5/5a/Ramaiah_Institutions_Logo.png</a:t>
            </a:r>
            <a:endParaRPr dirty="0"/>
          </a:p>
        </p:txBody>
      </p:sp>
      <p:sp>
        <p:nvSpPr>
          <p:cNvPr id="347" name="Google Shape;347;p25"/>
          <p:cNvSpPr txBox="1"/>
          <p:nvPr/>
        </p:nvSpPr>
        <p:spPr>
          <a:xfrm>
            <a:off x="1676400" y="166925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en.wikipedia.org</a:t>
            </a:r>
            <a:endParaRPr dirty="0"/>
          </a:p>
        </p:txBody>
      </p:sp>
      <p:pic>
        <p:nvPicPr>
          <p:cNvPr id="348" name="Google Shape;34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002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 txBox="1"/>
          <p:nvPr/>
        </p:nvSpPr>
        <p:spPr>
          <a:xfrm>
            <a:off x="1676400" y="220741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https://blogs.adb.org/sites/blogs/files/file-attachments/MfUMZClDyHeukvt1MQJBDiWbJX52cYlMeoaGgI7ZM4M.jpg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1676400" y="244078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blogs.adb.org</a:t>
            </a:r>
            <a:endParaRPr/>
          </a:p>
        </p:txBody>
      </p:sp>
      <p:pic>
        <p:nvPicPr>
          <p:cNvPr id="351" name="Google Shape;35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71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 txBox="1"/>
          <p:nvPr/>
        </p:nvSpPr>
        <p:spPr>
          <a:xfrm>
            <a:off x="1676400" y="297894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https://img.freepik.com/premium-photo/indian-farmer-showing-smartphone-cotton-agriculture-field_75648-12479.jpg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1676400" y="321230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www.freepik.com</a:t>
            </a:r>
            <a:endParaRPr/>
          </a:p>
        </p:txBody>
      </p:sp>
      <p:pic>
        <p:nvPicPr>
          <p:cNvPr id="354" name="Google Shape;35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29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5"/>
          <p:cNvSpPr txBox="1"/>
          <p:nvPr/>
        </p:nvSpPr>
        <p:spPr>
          <a:xfrm>
            <a:off x="1676400" y="3743325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https://stg-uploads.slidenest.com/template_3314/templateColor_3201/previewImages/planning-a-sustainable-garden-powerpoint-google-slides-keynote-presentation-template-25.jpeg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1676400" y="4162425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slidenest.com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872</Words>
  <Application>Microsoft Office PowerPoint</Application>
  <PresentationFormat>Widescreen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Merriweather</vt:lpstr>
      <vt:lpstr>Open Sans SemiBold</vt:lpstr>
      <vt:lpstr>Calibri</vt:lpstr>
      <vt:lpstr>Merriweather Black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Harish</cp:lastModifiedBy>
  <cp:revision>2</cp:revision>
  <dcterms:modified xsi:type="dcterms:W3CDTF">2026-01-02T10:48:59Z</dcterms:modified>
</cp:coreProperties>
</file>