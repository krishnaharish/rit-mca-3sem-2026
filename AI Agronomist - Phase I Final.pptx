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embeddedFontLst>
    <p:embeddedFont>
      <p:font typeface="Merriweather" panose="00000500000000000000" pitchFamily="2" charset="0"/>
      <p:regular r:id="rId16"/>
      <p:bold r:id="rId17"/>
      <p:italic r:id="rId18"/>
      <p:boldItalic r:id="rId19"/>
    </p:embeddedFont>
    <p:embeddedFont>
      <p:font typeface="Merriweather Black" panose="00000A00000000000000" pitchFamily="2" charset="0"/>
      <p:bold r:id="rId20"/>
      <p:boldItalic r:id="rId21"/>
    </p:embeddedFont>
    <p:embeddedFont>
      <p:font typeface="Open Sans" panose="020B0606030504020204" pitchFamily="34" charset="0"/>
      <p:regular r:id="rId22"/>
      <p:bold r:id="rId23"/>
      <p:italic r:id="rId24"/>
      <p:boldItalic r:id="rId25"/>
    </p:embeddedFont>
    <p:embeddedFont>
      <p:font typeface="Open Sans SemiBold" panose="020B0706030804020204" pitchFamily="34" charset="0"/>
      <p:regular r:id="rId26"/>
      <p:bold r:id="rId27"/>
      <p:italic r:id="rId28"/>
      <p:bold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0C792CA-69F9-48EB-AE1A-38FF82C19E1B}">
  <a:tblStyle styleId="{C0C792CA-69F9-48EB-AE1A-38FF82C19E1B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15" y="67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font" Target="fonts/font7.fntdata"/><Relationship Id="rId23" Type="http://schemas.openxmlformats.org/officeDocument/2006/relationships/font" Target="fonts/font8.fntdata"/><Relationship Id="rId24" Type="http://schemas.openxmlformats.org/officeDocument/2006/relationships/font" Target="fonts/font9.fntdata"/><Relationship Id="rId25" Type="http://schemas.openxmlformats.org/officeDocument/2006/relationships/font" Target="fonts/font10.fntdata"/><Relationship Id="rId26" Type="http://schemas.openxmlformats.org/officeDocument/2006/relationships/font" Target="fonts/font11.fntdata"/><Relationship Id="rId27" Type="http://schemas.openxmlformats.org/officeDocument/2006/relationships/font" Target="fonts/font12.fntdata"/><Relationship Id="rId28" Type="http://schemas.openxmlformats.org/officeDocument/2006/relationships/font" Target="fonts/font13.fntdata"/><Relationship Id="rId29" Type="http://schemas.openxmlformats.org/officeDocument/2006/relationships/font" Target="fonts/font14.fntdata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8" name="Google Shape;22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" name="Google Shape;25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8" name="Google Shape;278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4" name="Google Shape;304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3" name="Google Shape;323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2" name="Google Shape;332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png"/><Relationship Id="rId6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2.png"/><Relationship Id="rId7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35547" y="2577405"/>
            <a:ext cx="7720905" cy="3105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525" y="6372225"/>
            <a:ext cx="121729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4020740" y="603944"/>
            <a:ext cx="4150518" cy="639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0" i="0" u="none" strike="noStrike" cap="none">
                <a:solidFill>
                  <a:srgbClr val="003366"/>
                </a:solidFill>
                <a:latin typeface="Merriweather Black"/>
                <a:ea typeface="Merriweather Black"/>
                <a:cs typeface="Merriweather Black"/>
                <a:sym typeface="Merriweather Black"/>
              </a:rPr>
              <a:t>Crop Disease Prediction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3819525" y="1663005"/>
            <a:ext cx="455295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34155"/>
                </a:solidFill>
                <a:latin typeface="Merriweather"/>
                <a:ea typeface="Merriweather"/>
                <a:cs typeface="Merriweather"/>
                <a:sym typeface="Merriweather"/>
              </a:rPr>
              <a:t>Generative AI for Sustainable Agriculture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2483197" y="2825055"/>
            <a:ext cx="722560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1MS24MC045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2483197" y="3206055"/>
            <a:ext cx="7225605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3366"/>
                </a:solidFill>
                <a:latin typeface="Open Sans"/>
                <a:ea typeface="Open Sans"/>
                <a:cs typeface="Open Sans"/>
                <a:sym typeface="Open Sans"/>
              </a:rPr>
              <a:t>Krishna Harish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2483197" y="4006155"/>
            <a:ext cx="722560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Under the Guidance of</a:t>
            </a: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2483197" y="4387155"/>
            <a:ext cx="722560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Komala R</a:t>
            </a:r>
            <a:endParaRPr/>
          </a:p>
        </p:txBody>
      </p:sp>
      <p:sp>
        <p:nvSpPr>
          <p:cNvPr id="92" name="Google Shape;92;p13"/>
          <p:cNvSpPr txBox="1"/>
          <p:nvPr/>
        </p:nvSpPr>
        <p:spPr>
          <a:xfrm>
            <a:off x="2483197" y="4768155"/>
            <a:ext cx="722560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Associate Professor</a:t>
            </a:r>
            <a:endParaRPr/>
          </a:p>
        </p:txBody>
      </p:sp>
      <p:sp>
        <p:nvSpPr>
          <p:cNvPr id="93" name="Google Shape;93;p13"/>
          <p:cNvSpPr txBox="1"/>
          <p:nvPr/>
        </p:nvSpPr>
        <p:spPr>
          <a:xfrm>
            <a:off x="2483197" y="5149155"/>
            <a:ext cx="722560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Dept. of MCA, RIT</a:t>
            </a:r>
            <a:endParaRPr/>
          </a:p>
        </p:txBody>
      </p:sp>
      <p:sp>
        <p:nvSpPr>
          <p:cNvPr id="94" name="Google Shape;94;p13"/>
          <p:cNvSpPr/>
          <p:nvPr/>
        </p:nvSpPr>
        <p:spPr>
          <a:xfrm>
            <a:off x="9525" y="9525"/>
            <a:ext cx="12172950" cy="9525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57;p13" title="rit_logo.png">
            <a:extLst>
              <a:ext uri="{FF2B5EF4-FFF2-40B4-BE49-F238E27FC236}">
                <a16:creationId xmlns:a16="http://schemas.microsoft.com/office/drawing/2014/main" id="{94CD1650-ED4A-C3EE-DB06-C046DE288345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9525"/>
            <a:ext cx="1141358" cy="10782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525" y="6372225"/>
            <a:ext cx="121729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4"/>
          <p:cNvSpPr txBox="1"/>
          <p:nvPr/>
        </p:nvSpPr>
        <p:spPr>
          <a:xfrm>
            <a:off x="1533525" y="390525"/>
            <a:ext cx="10581322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Agenda</a:t>
            </a:r>
            <a:endParaRPr/>
          </a:p>
        </p:txBody>
      </p:sp>
      <p:sp>
        <p:nvSpPr>
          <p:cNvPr id="102" name="Google Shape;102;p14"/>
          <p:cNvSpPr/>
          <p:nvPr/>
        </p:nvSpPr>
        <p:spPr>
          <a:xfrm>
            <a:off x="581025" y="981075"/>
            <a:ext cx="110299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4"/>
          <p:cNvSpPr txBox="1"/>
          <p:nvPr/>
        </p:nvSpPr>
        <p:spPr>
          <a:xfrm>
            <a:off x="742950" y="2838450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819150" y="2838450"/>
            <a:ext cx="50387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Introduction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742950" y="3238500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106" name="Google Shape;106;p14"/>
          <p:cNvSpPr txBox="1"/>
          <p:nvPr/>
        </p:nvSpPr>
        <p:spPr>
          <a:xfrm>
            <a:off x="819150" y="3238500"/>
            <a:ext cx="50387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Problem Statement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742950" y="3638550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819150" y="3638550"/>
            <a:ext cx="50387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Motivation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742950" y="4038600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110" name="Google Shape;110;p14"/>
          <p:cNvSpPr txBox="1"/>
          <p:nvPr/>
        </p:nvSpPr>
        <p:spPr>
          <a:xfrm>
            <a:off x="819150" y="4038600"/>
            <a:ext cx="50387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Literature Review</a:t>
            </a:r>
            <a:endParaRPr/>
          </a:p>
        </p:txBody>
      </p:sp>
      <p:sp>
        <p:nvSpPr>
          <p:cNvPr id="111" name="Google Shape;111;p14"/>
          <p:cNvSpPr txBox="1"/>
          <p:nvPr/>
        </p:nvSpPr>
        <p:spPr>
          <a:xfrm>
            <a:off x="742950" y="4438650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112" name="Google Shape;112;p14"/>
          <p:cNvSpPr txBox="1"/>
          <p:nvPr/>
        </p:nvSpPr>
        <p:spPr>
          <a:xfrm>
            <a:off x="819150" y="4438650"/>
            <a:ext cx="50387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Objectives</a:t>
            </a:r>
            <a:endParaRPr/>
          </a:p>
        </p:txBody>
      </p:sp>
      <p:sp>
        <p:nvSpPr>
          <p:cNvPr id="113" name="Google Shape;113;p14"/>
          <p:cNvSpPr txBox="1"/>
          <p:nvPr/>
        </p:nvSpPr>
        <p:spPr>
          <a:xfrm>
            <a:off x="6496050" y="3038475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114" name="Google Shape;114;p14"/>
          <p:cNvSpPr txBox="1"/>
          <p:nvPr/>
        </p:nvSpPr>
        <p:spPr>
          <a:xfrm>
            <a:off x="6572250" y="3038475"/>
            <a:ext cx="50387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Functional Requirement Specifications (FRS)</a:t>
            </a:r>
            <a:endParaRPr/>
          </a:p>
        </p:txBody>
      </p:sp>
      <p:sp>
        <p:nvSpPr>
          <p:cNvPr id="115" name="Google Shape;115;p14"/>
          <p:cNvSpPr txBox="1"/>
          <p:nvPr/>
        </p:nvSpPr>
        <p:spPr>
          <a:xfrm>
            <a:off x="6496050" y="3438525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116" name="Google Shape;116;p14"/>
          <p:cNvSpPr txBox="1"/>
          <p:nvPr/>
        </p:nvSpPr>
        <p:spPr>
          <a:xfrm>
            <a:off x="6572250" y="3438525"/>
            <a:ext cx="50387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Non-Functional Requirement Specifications (NFRS)</a:t>
            </a:r>
            <a:endParaRPr/>
          </a:p>
        </p:txBody>
      </p:sp>
      <p:sp>
        <p:nvSpPr>
          <p:cNvPr id="117" name="Google Shape;117;p14"/>
          <p:cNvSpPr txBox="1"/>
          <p:nvPr/>
        </p:nvSpPr>
        <p:spPr>
          <a:xfrm>
            <a:off x="6496050" y="3838575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118" name="Google Shape;118;p14"/>
          <p:cNvSpPr txBox="1"/>
          <p:nvPr/>
        </p:nvSpPr>
        <p:spPr>
          <a:xfrm>
            <a:off x="6572250" y="3838575"/>
            <a:ext cx="50387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Plan for Future Work</a:t>
            </a:r>
            <a:endParaRPr/>
          </a:p>
        </p:txBody>
      </p:sp>
      <p:sp>
        <p:nvSpPr>
          <p:cNvPr id="119" name="Google Shape;119;p14"/>
          <p:cNvSpPr txBox="1"/>
          <p:nvPr/>
        </p:nvSpPr>
        <p:spPr>
          <a:xfrm>
            <a:off x="6496050" y="4238625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120" name="Google Shape;120;p14"/>
          <p:cNvSpPr txBox="1"/>
          <p:nvPr/>
        </p:nvSpPr>
        <p:spPr>
          <a:xfrm>
            <a:off x="6572250" y="4238625"/>
            <a:ext cx="50387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References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525" y="9525"/>
            <a:ext cx="12172950" cy="9525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57;p13" title="rit_logo.png">
            <a:extLst>
              <a:ext uri="{FF2B5EF4-FFF2-40B4-BE49-F238E27FC236}">
                <a16:creationId xmlns:a16="http://schemas.microsoft.com/office/drawing/2014/main" id="{B38FB2F0-55FF-A84F-5365-AF1233D85810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9525"/>
            <a:ext cx="1141358" cy="10782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Google Shape;127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4125" y="1876425"/>
            <a:ext cx="5276850" cy="381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525" y="6372225"/>
            <a:ext cx="121729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5"/>
          <p:cNvSpPr txBox="1"/>
          <p:nvPr/>
        </p:nvSpPr>
        <p:spPr>
          <a:xfrm>
            <a:off x="1533525" y="390525"/>
            <a:ext cx="10581322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Introduction</a:t>
            </a:r>
            <a:endParaRPr/>
          </a:p>
        </p:txBody>
      </p:sp>
      <p:sp>
        <p:nvSpPr>
          <p:cNvPr id="130" name="Google Shape;130;p15"/>
          <p:cNvSpPr/>
          <p:nvPr/>
        </p:nvSpPr>
        <p:spPr>
          <a:xfrm>
            <a:off x="581025" y="981075"/>
            <a:ext cx="110299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5"/>
          <p:cNvSpPr txBox="1"/>
          <p:nvPr/>
        </p:nvSpPr>
        <p:spPr>
          <a:xfrm>
            <a:off x="581025" y="1866900"/>
            <a:ext cx="52768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Brief Introduction to the Problem Domain:</a:t>
            </a:r>
            <a:endParaRPr/>
          </a:p>
        </p:txBody>
      </p:sp>
      <p:sp>
        <p:nvSpPr>
          <p:cNvPr id="132" name="Google Shape;132;p15"/>
          <p:cNvSpPr txBox="1"/>
          <p:nvPr/>
        </p:nvSpPr>
        <p:spPr>
          <a:xfrm>
            <a:off x="581025" y="4038600"/>
            <a:ext cx="52768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Real-World Relevance:</a:t>
            </a:r>
            <a:endParaRPr/>
          </a:p>
        </p:txBody>
      </p:sp>
      <p:pic>
        <p:nvPicPr>
          <p:cNvPr id="133" name="Google Shape;133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72225" y="1914525"/>
            <a:ext cx="5200650" cy="373380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5"/>
          <p:cNvSpPr txBox="1"/>
          <p:nvPr/>
        </p:nvSpPr>
        <p:spPr>
          <a:xfrm>
            <a:off x="742950" y="2305050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135" name="Google Shape;135;p15"/>
          <p:cNvSpPr txBox="1"/>
          <p:nvPr/>
        </p:nvSpPr>
        <p:spPr>
          <a:xfrm>
            <a:off x="819150" y="2305050"/>
            <a:ext cx="50387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Intersection of Agritech &amp; AI:</a:t>
            </a: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 Leveraging Generative AI to bridge the critical information gap for farmers.</a:t>
            </a:r>
            <a:endParaRPr/>
          </a:p>
        </p:txBody>
      </p:sp>
      <p:sp>
        <p:nvSpPr>
          <p:cNvPr id="136" name="Google Shape;136;p15"/>
          <p:cNvSpPr txBox="1"/>
          <p:nvPr/>
        </p:nvSpPr>
        <p:spPr>
          <a:xfrm>
            <a:off x="742950" y="2990850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137" name="Google Shape;137;p15"/>
          <p:cNvSpPr txBox="1"/>
          <p:nvPr/>
        </p:nvSpPr>
        <p:spPr>
          <a:xfrm>
            <a:off x="819150" y="2990850"/>
            <a:ext cx="5038725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Hyper-Localized Insights:</a:t>
            </a: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 Moving beyond generic advice to context-aware data regarding weather, soil, and crops.</a:t>
            </a:r>
            <a:endParaRPr/>
          </a:p>
        </p:txBody>
      </p:sp>
      <p:sp>
        <p:nvSpPr>
          <p:cNvPr id="138" name="Google Shape;138;p15"/>
          <p:cNvSpPr txBox="1"/>
          <p:nvPr/>
        </p:nvSpPr>
        <p:spPr>
          <a:xfrm>
            <a:off x="742950" y="4476750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139" name="Google Shape;139;p15"/>
          <p:cNvSpPr txBox="1"/>
          <p:nvPr/>
        </p:nvSpPr>
        <p:spPr>
          <a:xfrm>
            <a:off x="819150" y="4476750"/>
            <a:ext cx="50387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Democratizing Knowledge:</a:t>
            </a: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 Making expert agronomy accessible to smallholder farmers.</a:t>
            </a:r>
            <a:endParaRPr/>
          </a:p>
        </p:txBody>
      </p:sp>
      <p:sp>
        <p:nvSpPr>
          <p:cNvPr id="140" name="Google Shape;140;p15"/>
          <p:cNvSpPr txBox="1"/>
          <p:nvPr/>
        </p:nvSpPr>
        <p:spPr>
          <a:xfrm>
            <a:off x="742950" y="5162550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141" name="Google Shape;141;p15"/>
          <p:cNvSpPr txBox="1"/>
          <p:nvPr/>
        </p:nvSpPr>
        <p:spPr>
          <a:xfrm>
            <a:off x="819150" y="5162550"/>
            <a:ext cx="50387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Climate Resilience:</a:t>
            </a: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 Adapting to changing patterns via data-driven decisions.</a:t>
            </a:r>
            <a:endParaRPr/>
          </a:p>
        </p:txBody>
      </p:sp>
      <p:sp>
        <p:nvSpPr>
          <p:cNvPr id="142" name="Google Shape;142;p15"/>
          <p:cNvSpPr/>
          <p:nvPr/>
        </p:nvSpPr>
        <p:spPr>
          <a:xfrm>
            <a:off x="9525" y="9525"/>
            <a:ext cx="12172950" cy="9525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57;p13" title="rit_logo.png">
            <a:extLst>
              <a:ext uri="{FF2B5EF4-FFF2-40B4-BE49-F238E27FC236}">
                <a16:creationId xmlns:a16="http://schemas.microsoft.com/office/drawing/2014/main" id="{59C3C405-9B38-5CDD-802B-7C32EBC5CFF8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0" y="9525"/>
            <a:ext cx="1141358" cy="10782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2066925"/>
            <a:ext cx="5372100" cy="1857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238875" y="2066925"/>
            <a:ext cx="5372100" cy="1857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4210050"/>
            <a:ext cx="5372100" cy="1857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238875" y="4210050"/>
            <a:ext cx="5372100" cy="1857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525" y="6372225"/>
            <a:ext cx="121729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16"/>
          <p:cNvSpPr txBox="1"/>
          <p:nvPr/>
        </p:nvSpPr>
        <p:spPr>
          <a:xfrm>
            <a:off x="1533525" y="390525"/>
            <a:ext cx="10581322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Problem Statement</a:t>
            </a:r>
            <a:endParaRPr/>
          </a:p>
        </p:txBody>
      </p:sp>
      <p:sp>
        <p:nvSpPr>
          <p:cNvPr id="154" name="Google Shape;154;p16"/>
          <p:cNvSpPr/>
          <p:nvPr/>
        </p:nvSpPr>
        <p:spPr>
          <a:xfrm>
            <a:off x="581025" y="981075"/>
            <a:ext cx="110299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6"/>
          <p:cNvSpPr txBox="1"/>
          <p:nvPr/>
        </p:nvSpPr>
        <p:spPr>
          <a:xfrm>
            <a:off x="581025" y="1476375"/>
            <a:ext cx="110299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Smallholder farmers face significant barriers in accessing accurate advice due to:</a:t>
            </a:r>
            <a:endParaRPr/>
          </a:p>
        </p:txBody>
      </p:sp>
      <p:sp>
        <p:nvSpPr>
          <p:cNvPr id="156" name="Google Shape;156;p16"/>
          <p:cNvSpPr txBox="1"/>
          <p:nvPr/>
        </p:nvSpPr>
        <p:spPr>
          <a:xfrm>
            <a:off x="819150" y="2266950"/>
            <a:ext cx="5180647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4155"/>
                </a:solidFill>
                <a:latin typeface="Merriweather"/>
                <a:ea typeface="Merriweather"/>
                <a:cs typeface="Merriweather"/>
                <a:sym typeface="Merriweather"/>
              </a:rPr>
              <a:t>1. Generic AI Hallucinations</a:t>
            </a:r>
            <a:endParaRPr/>
          </a:p>
        </p:txBody>
      </p:sp>
      <p:sp>
        <p:nvSpPr>
          <p:cNvPr id="157" name="Google Shape;157;p16"/>
          <p:cNvSpPr txBox="1"/>
          <p:nvPr/>
        </p:nvSpPr>
        <p:spPr>
          <a:xfrm>
            <a:off x="819150" y="2752725"/>
            <a:ext cx="493395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Standard LLMs lack regional context and often "invent" facts, leading to unreliable and potentially harmful advice.</a:t>
            </a:r>
            <a:endParaRPr/>
          </a:p>
        </p:txBody>
      </p:sp>
      <p:sp>
        <p:nvSpPr>
          <p:cNvPr id="158" name="Google Shape;158;p16"/>
          <p:cNvSpPr txBox="1"/>
          <p:nvPr/>
        </p:nvSpPr>
        <p:spPr>
          <a:xfrm>
            <a:off x="6477000" y="2266950"/>
            <a:ext cx="5180647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4155"/>
                </a:solidFill>
                <a:latin typeface="Merriweather"/>
                <a:ea typeface="Merriweather"/>
                <a:cs typeface="Merriweather"/>
                <a:sym typeface="Merriweather"/>
              </a:rPr>
              <a:t>2. Language Barriers</a:t>
            </a:r>
            <a:endParaRPr/>
          </a:p>
        </p:txBody>
      </p:sp>
      <p:sp>
        <p:nvSpPr>
          <p:cNvPr id="159" name="Google Shape;159;p16"/>
          <p:cNvSpPr txBox="1"/>
          <p:nvPr/>
        </p:nvSpPr>
        <p:spPr>
          <a:xfrm>
            <a:off x="6477000" y="2752725"/>
            <a:ext cx="49339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Most digital tools are English-first, while rural farmers predominantly speak diverse local dialects.</a:t>
            </a:r>
            <a:endParaRPr/>
          </a:p>
        </p:txBody>
      </p:sp>
      <p:sp>
        <p:nvSpPr>
          <p:cNvPr id="160" name="Google Shape;160;p16"/>
          <p:cNvSpPr txBox="1"/>
          <p:nvPr/>
        </p:nvSpPr>
        <p:spPr>
          <a:xfrm>
            <a:off x="819150" y="4410075"/>
            <a:ext cx="5180647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4155"/>
                </a:solidFill>
                <a:latin typeface="Merriweather"/>
                <a:ea typeface="Merriweather"/>
                <a:cs typeface="Merriweather"/>
                <a:sym typeface="Merriweather"/>
              </a:rPr>
              <a:t>3. Data Latency</a:t>
            </a:r>
            <a:endParaRPr/>
          </a:p>
        </p:txBody>
      </p:sp>
      <p:sp>
        <p:nvSpPr>
          <p:cNvPr id="161" name="Google Shape;161;p16"/>
          <p:cNvSpPr txBox="1"/>
          <p:nvPr/>
        </p:nvSpPr>
        <p:spPr>
          <a:xfrm>
            <a:off x="819150" y="4895850"/>
            <a:ext cx="493395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Models rely on old training data, missing crucial live updates like sudden weather changes or government schemes.</a:t>
            </a:r>
            <a:endParaRPr/>
          </a:p>
        </p:txBody>
      </p:sp>
      <p:sp>
        <p:nvSpPr>
          <p:cNvPr id="162" name="Google Shape;162;p16"/>
          <p:cNvSpPr txBox="1"/>
          <p:nvPr/>
        </p:nvSpPr>
        <p:spPr>
          <a:xfrm>
            <a:off x="6477000" y="4410075"/>
            <a:ext cx="5180647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4155"/>
                </a:solidFill>
                <a:latin typeface="Merriweather"/>
                <a:ea typeface="Merriweather"/>
                <a:cs typeface="Merriweather"/>
                <a:sym typeface="Merriweather"/>
              </a:rPr>
              <a:t>4. Hardware Constraints</a:t>
            </a:r>
            <a:endParaRPr/>
          </a:p>
        </p:txBody>
      </p:sp>
      <p:sp>
        <p:nvSpPr>
          <p:cNvPr id="163" name="Google Shape;163;p16"/>
          <p:cNvSpPr txBox="1"/>
          <p:nvPr/>
        </p:nvSpPr>
        <p:spPr>
          <a:xfrm>
            <a:off x="6477000" y="4895850"/>
            <a:ext cx="493395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Existing solutions require high-end hardware, whereas farmers typically use low-end Android devices with poor connectivity.</a:t>
            </a:r>
            <a:endParaRPr/>
          </a:p>
        </p:txBody>
      </p:sp>
      <p:sp>
        <p:nvSpPr>
          <p:cNvPr id="164" name="Google Shape;164;p16"/>
          <p:cNvSpPr/>
          <p:nvPr/>
        </p:nvSpPr>
        <p:spPr>
          <a:xfrm>
            <a:off x="9525" y="9525"/>
            <a:ext cx="12172950" cy="9525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57;p13" title="rit_logo.png">
            <a:extLst>
              <a:ext uri="{FF2B5EF4-FFF2-40B4-BE49-F238E27FC236}">
                <a16:creationId xmlns:a16="http://schemas.microsoft.com/office/drawing/2014/main" id="{353FA6AC-7A0E-CA48-6374-66420A1370B2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9525"/>
            <a:ext cx="1141358" cy="10782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0" name="Google Shape;170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4125" y="1876425"/>
            <a:ext cx="5276850" cy="381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525" y="6372225"/>
            <a:ext cx="121729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7"/>
          <p:cNvSpPr txBox="1"/>
          <p:nvPr/>
        </p:nvSpPr>
        <p:spPr>
          <a:xfrm>
            <a:off x="1533525" y="390525"/>
            <a:ext cx="10581322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Motivation</a:t>
            </a:r>
            <a:endParaRPr/>
          </a:p>
        </p:txBody>
      </p:sp>
      <p:sp>
        <p:nvSpPr>
          <p:cNvPr id="173" name="Google Shape;173;p17"/>
          <p:cNvSpPr/>
          <p:nvPr/>
        </p:nvSpPr>
        <p:spPr>
          <a:xfrm>
            <a:off x="581025" y="981075"/>
            <a:ext cx="110299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7"/>
          <p:cNvSpPr txBox="1"/>
          <p:nvPr/>
        </p:nvSpPr>
        <p:spPr>
          <a:xfrm>
            <a:off x="581025" y="1666875"/>
            <a:ext cx="52768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Why this project?</a:t>
            </a:r>
            <a:endParaRPr/>
          </a:p>
        </p:txBody>
      </p:sp>
      <p:sp>
        <p:nvSpPr>
          <p:cNvPr id="175" name="Google Shape;175;p17"/>
          <p:cNvSpPr txBox="1"/>
          <p:nvPr/>
        </p:nvSpPr>
        <p:spPr>
          <a:xfrm>
            <a:off x="581025" y="3552825"/>
            <a:ext cx="52768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Industry Relevance:</a:t>
            </a:r>
            <a:endParaRPr/>
          </a:p>
        </p:txBody>
      </p:sp>
      <p:pic>
        <p:nvPicPr>
          <p:cNvPr id="176" name="Google Shape;176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72225" y="1914525"/>
            <a:ext cx="5200650" cy="373380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17"/>
          <p:cNvSpPr txBox="1"/>
          <p:nvPr/>
        </p:nvSpPr>
        <p:spPr>
          <a:xfrm>
            <a:off x="742950" y="2105025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178" name="Google Shape;178;p17"/>
          <p:cNvSpPr txBox="1"/>
          <p:nvPr/>
        </p:nvSpPr>
        <p:spPr>
          <a:xfrm>
            <a:off x="819150" y="2105025"/>
            <a:ext cx="50387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To bridge the </a:t>
            </a:r>
            <a:r>
              <a:rPr lang="en-US" sz="1500" b="1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Digital Divide</a:t>
            </a: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, ensuring no farmer is left behind due to literacy barriers.</a:t>
            </a:r>
            <a:endParaRPr/>
          </a:p>
        </p:txBody>
      </p:sp>
      <p:sp>
        <p:nvSpPr>
          <p:cNvPr id="179" name="Google Shape;179;p17"/>
          <p:cNvSpPr txBox="1"/>
          <p:nvPr/>
        </p:nvSpPr>
        <p:spPr>
          <a:xfrm>
            <a:off x="742950" y="2790825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180" name="Google Shape;180;p17"/>
          <p:cNvSpPr txBox="1"/>
          <p:nvPr/>
        </p:nvSpPr>
        <p:spPr>
          <a:xfrm>
            <a:off x="819150" y="2790825"/>
            <a:ext cx="50387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To address the urgent need for </a:t>
            </a:r>
            <a:r>
              <a:rPr lang="en-US" sz="1500" b="1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Climate-Resilient</a:t>
            </a: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 farming practices.</a:t>
            </a:r>
            <a:endParaRPr/>
          </a:p>
        </p:txBody>
      </p:sp>
      <p:sp>
        <p:nvSpPr>
          <p:cNvPr id="181" name="Google Shape;181;p17"/>
          <p:cNvSpPr txBox="1"/>
          <p:nvPr/>
        </p:nvSpPr>
        <p:spPr>
          <a:xfrm>
            <a:off x="742950" y="3990975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182" name="Google Shape;182;p17"/>
          <p:cNvSpPr txBox="1"/>
          <p:nvPr/>
        </p:nvSpPr>
        <p:spPr>
          <a:xfrm>
            <a:off x="819150" y="3990975"/>
            <a:ext cx="50387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Aligns with "Digital Public Infrastructure" initiatives (e.g., Digital India).</a:t>
            </a:r>
            <a:endParaRPr/>
          </a:p>
        </p:txBody>
      </p:sp>
      <p:sp>
        <p:nvSpPr>
          <p:cNvPr id="183" name="Google Shape;183;p17"/>
          <p:cNvSpPr txBox="1"/>
          <p:nvPr/>
        </p:nvSpPr>
        <p:spPr>
          <a:xfrm>
            <a:off x="742950" y="4676775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184" name="Google Shape;184;p17"/>
          <p:cNvSpPr txBox="1"/>
          <p:nvPr/>
        </p:nvSpPr>
        <p:spPr>
          <a:xfrm>
            <a:off x="819150" y="4676775"/>
            <a:ext cx="50387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Economic Impact:</a:t>
            </a: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 Potential 15% reduction in input costs.</a:t>
            </a:r>
            <a:endParaRPr/>
          </a:p>
        </p:txBody>
      </p:sp>
      <p:sp>
        <p:nvSpPr>
          <p:cNvPr id="185" name="Google Shape;185;p17"/>
          <p:cNvSpPr txBox="1"/>
          <p:nvPr/>
        </p:nvSpPr>
        <p:spPr>
          <a:xfrm>
            <a:off x="742950" y="5362575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186" name="Google Shape;186;p17"/>
          <p:cNvSpPr txBox="1"/>
          <p:nvPr/>
        </p:nvSpPr>
        <p:spPr>
          <a:xfrm>
            <a:off x="819150" y="5362575"/>
            <a:ext cx="50387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Productivity:</a:t>
            </a: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 Target 20% yield increase via precision timing.</a:t>
            </a:r>
            <a:endParaRPr/>
          </a:p>
        </p:txBody>
      </p:sp>
      <p:sp>
        <p:nvSpPr>
          <p:cNvPr id="187" name="Google Shape;187;p17"/>
          <p:cNvSpPr/>
          <p:nvPr/>
        </p:nvSpPr>
        <p:spPr>
          <a:xfrm>
            <a:off x="9525" y="9525"/>
            <a:ext cx="12172950" cy="9525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57;p13" title="rit_logo.png">
            <a:extLst>
              <a:ext uri="{FF2B5EF4-FFF2-40B4-BE49-F238E27FC236}">
                <a16:creationId xmlns:a16="http://schemas.microsoft.com/office/drawing/2014/main" id="{CB581510-AFC6-46C4-E3CC-ED1D10992796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0" y="9525"/>
            <a:ext cx="1141358" cy="10782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1476375"/>
            <a:ext cx="11029950" cy="2990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525" y="6372225"/>
            <a:ext cx="121729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18"/>
          <p:cNvSpPr txBox="1"/>
          <p:nvPr/>
        </p:nvSpPr>
        <p:spPr>
          <a:xfrm>
            <a:off x="1533525" y="390525"/>
            <a:ext cx="10581322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Literature Review</a:t>
            </a:r>
            <a:endParaRPr/>
          </a:p>
        </p:txBody>
      </p:sp>
      <p:sp>
        <p:nvSpPr>
          <p:cNvPr id="196" name="Google Shape;196;p18"/>
          <p:cNvSpPr/>
          <p:nvPr/>
        </p:nvSpPr>
        <p:spPr>
          <a:xfrm>
            <a:off x="581025" y="981075"/>
            <a:ext cx="110299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97" name="Google Shape;197;p18"/>
          <p:cNvGraphicFramePr/>
          <p:nvPr/>
        </p:nvGraphicFramePr>
        <p:xfrm>
          <a:off x="590550" y="1485900"/>
          <a:ext cx="11010900" cy="2971800"/>
        </p:xfrm>
        <a:graphic>
          <a:graphicData uri="http://schemas.openxmlformats.org/drawingml/2006/table">
            <a:tbl>
              <a:tblPr firstRow="1" bandRow="1">
                <a:noFill/>
                <a:tableStyleId>{C0C792CA-69F9-48EB-AE1A-38FF82C19E1B}</a:tableStyleId>
              </a:tblPr>
              <a:tblGrid>
                <a:gridCol w="2752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04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53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2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FFFFF"/>
                          </a:solidFill>
                          <a:latin typeface="Open Sans SemiBold"/>
                          <a:ea typeface="Open Sans SemiBold"/>
                          <a:cs typeface="Open Sans SemiBold"/>
                          <a:sym typeface="Open Sans SemiBold"/>
                        </a:rPr>
                        <a:t>Author(s) / Year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FFFFF"/>
                          </a:solidFill>
                          <a:latin typeface="Open Sans SemiBold"/>
                          <a:ea typeface="Open Sans SemiBold"/>
                          <a:cs typeface="Open Sans SemiBold"/>
                          <a:sym typeface="Open Sans SemiBold"/>
                        </a:rPr>
                        <a:t>Aim &amp; Methodology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FFFFF"/>
                          </a:solidFill>
                          <a:latin typeface="Open Sans SemiBold"/>
                          <a:ea typeface="Open Sans SemiBold"/>
                          <a:cs typeface="Open Sans SemiBold"/>
                          <a:sym typeface="Open Sans SemiBold"/>
                        </a:rPr>
                        <a:t>Outcome / Gap Identified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Balaguer et al. (2024)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RAG vs Fine-tuning pipelines in Agriculture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RAG is superior for dynamic data (weather). </a:t>
                      </a:r>
                      <a:r>
                        <a:rPr lang="en-US" sz="1350" b="0" i="1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Gap: Real-time accuracy on edge.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Singh et al. (2024)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Farmer.Chat: Scaling AI-Powered Services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Success in chat interfaces. </a:t>
                      </a:r>
                      <a:r>
                        <a:rPr lang="en-US" sz="1350" b="0" i="1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Gap: Lack of robust dialect voice support.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Narisetti &amp; Bodapati (2024)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Deep Learning for Leaf Disease Prediction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High accuracy CNNs. </a:t>
                      </a:r>
                      <a:r>
                        <a:rPr lang="en-US" sz="1350" b="0" i="1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Gap: Optimization for offline/low-resource devices.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98" name="Google Shape;198;p18"/>
          <p:cNvSpPr/>
          <p:nvPr/>
        </p:nvSpPr>
        <p:spPr>
          <a:xfrm>
            <a:off x="590550" y="2824162"/>
            <a:ext cx="275272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8"/>
          <p:cNvSpPr/>
          <p:nvPr/>
        </p:nvSpPr>
        <p:spPr>
          <a:xfrm>
            <a:off x="3343275" y="2824162"/>
            <a:ext cx="440427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8"/>
          <p:cNvSpPr/>
          <p:nvPr/>
        </p:nvSpPr>
        <p:spPr>
          <a:xfrm>
            <a:off x="7747545" y="2824162"/>
            <a:ext cx="385390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8"/>
          <p:cNvSpPr/>
          <p:nvPr/>
        </p:nvSpPr>
        <p:spPr>
          <a:xfrm>
            <a:off x="590550" y="3633787"/>
            <a:ext cx="275272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8"/>
          <p:cNvSpPr/>
          <p:nvPr/>
        </p:nvSpPr>
        <p:spPr>
          <a:xfrm>
            <a:off x="3343275" y="3633787"/>
            <a:ext cx="440427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8"/>
          <p:cNvSpPr/>
          <p:nvPr/>
        </p:nvSpPr>
        <p:spPr>
          <a:xfrm>
            <a:off x="7747545" y="3633787"/>
            <a:ext cx="385390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8"/>
          <p:cNvSpPr/>
          <p:nvPr/>
        </p:nvSpPr>
        <p:spPr>
          <a:xfrm>
            <a:off x="590550" y="4443412"/>
            <a:ext cx="275272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8"/>
          <p:cNvSpPr/>
          <p:nvPr/>
        </p:nvSpPr>
        <p:spPr>
          <a:xfrm>
            <a:off x="3343275" y="4443412"/>
            <a:ext cx="440427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8"/>
          <p:cNvSpPr/>
          <p:nvPr/>
        </p:nvSpPr>
        <p:spPr>
          <a:xfrm>
            <a:off x="7747545" y="4443412"/>
            <a:ext cx="385390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8"/>
          <p:cNvSpPr/>
          <p:nvPr/>
        </p:nvSpPr>
        <p:spPr>
          <a:xfrm>
            <a:off x="9525" y="9525"/>
            <a:ext cx="12172950" cy="9525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57;p13" title="rit_logo.png">
            <a:extLst>
              <a:ext uri="{FF2B5EF4-FFF2-40B4-BE49-F238E27FC236}">
                <a16:creationId xmlns:a16="http://schemas.microsoft.com/office/drawing/2014/main" id="{85E438E8-69DD-489A-42E4-67BD75A0FD07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9525"/>
            <a:ext cx="1141358" cy="10782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3" name="Google Shape;213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525" y="6372225"/>
            <a:ext cx="121729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19"/>
          <p:cNvSpPr txBox="1"/>
          <p:nvPr/>
        </p:nvSpPr>
        <p:spPr>
          <a:xfrm>
            <a:off x="1533525" y="390525"/>
            <a:ext cx="10581322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Objectives</a:t>
            </a:r>
            <a:endParaRPr/>
          </a:p>
        </p:txBody>
      </p:sp>
      <p:sp>
        <p:nvSpPr>
          <p:cNvPr id="215" name="Google Shape;215;p19"/>
          <p:cNvSpPr/>
          <p:nvPr/>
        </p:nvSpPr>
        <p:spPr>
          <a:xfrm>
            <a:off x="581025" y="981075"/>
            <a:ext cx="110299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9"/>
          <p:cNvSpPr txBox="1"/>
          <p:nvPr/>
        </p:nvSpPr>
        <p:spPr>
          <a:xfrm>
            <a:off x="742950" y="1514475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 dirty="0"/>
          </a:p>
        </p:txBody>
      </p:sp>
      <p:sp>
        <p:nvSpPr>
          <p:cNvPr id="217" name="Google Shape;217;p19"/>
          <p:cNvSpPr txBox="1"/>
          <p:nvPr/>
        </p:nvSpPr>
        <p:spPr>
          <a:xfrm>
            <a:off x="819150" y="1514475"/>
            <a:ext cx="107918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Develop a Context-Aware Voice Assistant:</a:t>
            </a:r>
            <a:r>
              <a:rPr lang="en-US" sz="1500" b="0" i="0" u="none" strike="noStrike" cap="none" dirty="0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 Hands-free, multilingual interface supporting local dialects (&gt;90% intent recognition).</a:t>
            </a:r>
            <a:endParaRPr dirty="0"/>
          </a:p>
        </p:txBody>
      </p:sp>
      <p:sp>
        <p:nvSpPr>
          <p:cNvPr id="218" name="Google Shape;218;p19"/>
          <p:cNvSpPr txBox="1"/>
          <p:nvPr/>
        </p:nvSpPr>
        <p:spPr>
          <a:xfrm>
            <a:off x="742950" y="2200275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219" name="Google Shape;219;p19"/>
          <p:cNvSpPr txBox="1"/>
          <p:nvPr/>
        </p:nvSpPr>
        <p:spPr>
          <a:xfrm>
            <a:off x="819150" y="2200275"/>
            <a:ext cx="107918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Implement RAG Pipeline:</a:t>
            </a: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 Fetch verified, real-time facts (Weather, Soil, Schemes) to eliminate hallucinations.</a:t>
            </a:r>
            <a:endParaRPr/>
          </a:p>
        </p:txBody>
      </p:sp>
      <p:sp>
        <p:nvSpPr>
          <p:cNvPr id="220" name="Google Shape;220;p19"/>
          <p:cNvSpPr txBox="1"/>
          <p:nvPr/>
        </p:nvSpPr>
        <p:spPr>
          <a:xfrm>
            <a:off x="742950" y="2600325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221" name="Google Shape;221;p19"/>
          <p:cNvSpPr txBox="1"/>
          <p:nvPr/>
        </p:nvSpPr>
        <p:spPr>
          <a:xfrm>
            <a:off x="819150" y="2600325"/>
            <a:ext cx="107918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Deploy Edge AI Diagnostics:</a:t>
            </a: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 Offline-capable Computer Vision (CNN) to diagnose crop diseases directly on mobile devices.</a:t>
            </a:r>
            <a:endParaRPr/>
          </a:p>
        </p:txBody>
      </p:sp>
      <p:sp>
        <p:nvSpPr>
          <p:cNvPr id="222" name="Google Shape;222;p19"/>
          <p:cNvSpPr txBox="1"/>
          <p:nvPr/>
        </p:nvSpPr>
        <p:spPr>
          <a:xfrm>
            <a:off x="742950" y="3352800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 dirty="0"/>
          </a:p>
        </p:txBody>
      </p:sp>
      <p:sp>
        <p:nvSpPr>
          <p:cNvPr id="223" name="Google Shape;223;p19"/>
          <p:cNvSpPr txBox="1"/>
          <p:nvPr/>
        </p:nvSpPr>
        <p:spPr>
          <a:xfrm>
            <a:off x="819150" y="3286125"/>
            <a:ext cx="107918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Optimize for Low-Resource Hardware:</a:t>
            </a:r>
            <a:r>
              <a:rPr lang="en-US" sz="1500" b="0" i="0" u="none" strike="noStrike" cap="none" dirty="0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 Mobile-first strategy (Flutter, </a:t>
            </a:r>
            <a:r>
              <a:rPr lang="en-US" sz="1500" b="0" i="0" u="none" strike="noStrike" cap="none" dirty="0" err="1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TFLite</a:t>
            </a:r>
            <a:r>
              <a:rPr lang="en-US" sz="1500" b="0" i="0" u="none" strike="noStrike" cap="none" dirty="0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) for low-end Android phones.</a:t>
            </a:r>
            <a:endParaRPr dirty="0"/>
          </a:p>
        </p:txBody>
      </p:sp>
      <p:sp>
        <p:nvSpPr>
          <p:cNvPr id="224" name="Google Shape;224;p19"/>
          <p:cNvSpPr/>
          <p:nvPr/>
        </p:nvSpPr>
        <p:spPr>
          <a:xfrm>
            <a:off x="9525" y="9525"/>
            <a:ext cx="12172950" cy="9525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57;p13" title="rit_logo.png">
            <a:extLst>
              <a:ext uri="{FF2B5EF4-FFF2-40B4-BE49-F238E27FC236}">
                <a16:creationId xmlns:a16="http://schemas.microsoft.com/office/drawing/2014/main" id="{555B5365-F2EA-099C-2D2A-F911BD112A98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9525"/>
            <a:ext cx="1141358" cy="10782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1476375"/>
            <a:ext cx="11029950" cy="2771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1" name="Google Shape;231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525" y="6372225"/>
            <a:ext cx="121729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20"/>
          <p:cNvSpPr txBox="1"/>
          <p:nvPr/>
        </p:nvSpPr>
        <p:spPr>
          <a:xfrm>
            <a:off x="1533525" y="390525"/>
            <a:ext cx="10581322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Functional Requirement Specifications</a:t>
            </a:r>
            <a:endParaRPr/>
          </a:p>
        </p:txBody>
      </p:sp>
      <p:sp>
        <p:nvSpPr>
          <p:cNvPr id="233" name="Google Shape;233;p20"/>
          <p:cNvSpPr/>
          <p:nvPr/>
        </p:nvSpPr>
        <p:spPr>
          <a:xfrm>
            <a:off x="581025" y="981075"/>
            <a:ext cx="110299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34" name="Google Shape;234;p20"/>
          <p:cNvGraphicFramePr/>
          <p:nvPr/>
        </p:nvGraphicFramePr>
        <p:xfrm>
          <a:off x="590550" y="1485900"/>
          <a:ext cx="11010900" cy="2752750"/>
        </p:xfrm>
        <a:graphic>
          <a:graphicData uri="http://schemas.openxmlformats.org/drawingml/2006/table">
            <a:tbl>
              <a:tblPr firstRow="1" bandRow="1">
                <a:noFill/>
                <a:tableStyleId>{C0C792CA-69F9-48EB-AE1A-38FF82C19E1B}</a:tableStyleId>
              </a:tblPr>
              <a:tblGrid>
                <a:gridCol w="1161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5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52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13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50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FFFFF"/>
                          </a:solidFill>
                          <a:latin typeface="Open Sans SemiBold"/>
                          <a:ea typeface="Open Sans SemiBold"/>
                          <a:cs typeface="Open Sans SemiBold"/>
                          <a:sym typeface="Open Sans SemiBold"/>
                        </a:rPr>
                        <a:t>FR No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FFFFF"/>
                          </a:solidFill>
                          <a:latin typeface="Open Sans SemiBold"/>
                          <a:ea typeface="Open Sans SemiBold"/>
                          <a:cs typeface="Open Sans SemiBold"/>
                          <a:sym typeface="Open Sans SemiBold"/>
                        </a:rPr>
                        <a:t>Feature Name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FFFFF"/>
                          </a:solidFill>
                          <a:latin typeface="Open Sans SemiBold"/>
                          <a:ea typeface="Open Sans SemiBold"/>
                          <a:cs typeface="Open Sans SemiBold"/>
                          <a:sym typeface="Open Sans SemiBold"/>
                        </a:rPr>
                        <a:t>Description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FFFFF"/>
                          </a:solidFill>
                          <a:latin typeface="Open Sans SemiBold"/>
                          <a:ea typeface="Open Sans SemiBold"/>
                          <a:cs typeface="Open Sans SemiBold"/>
                          <a:sym typeface="Open Sans SemiBold"/>
                        </a:rPr>
                        <a:t>Priority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FR-001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Multilingual Voice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Input/Output in native dialects (Bhashini/Google).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High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FR-002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Visual Diagnosis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Capture image &amp; detect disease (Rust, Blight).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High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FR-003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Advisory Engine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Synthesize weather + soil data for schedules.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High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0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FR-004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Offline Mode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Core diagnostics must work without internet.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Medium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35" name="Google Shape;235;p20"/>
          <p:cNvSpPr/>
          <p:nvPr/>
        </p:nvSpPr>
        <p:spPr>
          <a:xfrm>
            <a:off x="590550" y="2566987"/>
            <a:ext cx="116175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0"/>
          <p:cNvSpPr/>
          <p:nvPr/>
        </p:nvSpPr>
        <p:spPr>
          <a:xfrm>
            <a:off x="1752302" y="2566987"/>
            <a:ext cx="244524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0"/>
          <p:cNvSpPr/>
          <p:nvPr/>
        </p:nvSpPr>
        <p:spPr>
          <a:xfrm>
            <a:off x="4197548" y="2566987"/>
            <a:ext cx="605254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20"/>
          <p:cNvSpPr/>
          <p:nvPr/>
        </p:nvSpPr>
        <p:spPr>
          <a:xfrm>
            <a:off x="10250090" y="2566987"/>
            <a:ext cx="135135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0"/>
          <p:cNvSpPr/>
          <p:nvPr/>
        </p:nvSpPr>
        <p:spPr>
          <a:xfrm>
            <a:off x="590550" y="3119437"/>
            <a:ext cx="116175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0"/>
          <p:cNvSpPr/>
          <p:nvPr/>
        </p:nvSpPr>
        <p:spPr>
          <a:xfrm>
            <a:off x="1752302" y="3119437"/>
            <a:ext cx="244524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0"/>
          <p:cNvSpPr/>
          <p:nvPr/>
        </p:nvSpPr>
        <p:spPr>
          <a:xfrm>
            <a:off x="4197548" y="3119437"/>
            <a:ext cx="605254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20"/>
          <p:cNvSpPr/>
          <p:nvPr/>
        </p:nvSpPr>
        <p:spPr>
          <a:xfrm>
            <a:off x="10250090" y="3119437"/>
            <a:ext cx="135135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20"/>
          <p:cNvSpPr/>
          <p:nvPr/>
        </p:nvSpPr>
        <p:spPr>
          <a:xfrm>
            <a:off x="590550" y="3671887"/>
            <a:ext cx="116175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0"/>
          <p:cNvSpPr/>
          <p:nvPr/>
        </p:nvSpPr>
        <p:spPr>
          <a:xfrm>
            <a:off x="1752302" y="3671887"/>
            <a:ext cx="244524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20"/>
          <p:cNvSpPr/>
          <p:nvPr/>
        </p:nvSpPr>
        <p:spPr>
          <a:xfrm>
            <a:off x="4197548" y="3671887"/>
            <a:ext cx="605254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0"/>
          <p:cNvSpPr/>
          <p:nvPr/>
        </p:nvSpPr>
        <p:spPr>
          <a:xfrm>
            <a:off x="10250090" y="3671887"/>
            <a:ext cx="135135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20"/>
          <p:cNvSpPr/>
          <p:nvPr/>
        </p:nvSpPr>
        <p:spPr>
          <a:xfrm>
            <a:off x="590550" y="4224337"/>
            <a:ext cx="116175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0"/>
          <p:cNvSpPr/>
          <p:nvPr/>
        </p:nvSpPr>
        <p:spPr>
          <a:xfrm>
            <a:off x="1752302" y="4224337"/>
            <a:ext cx="244524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0"/>
          <p:cNvSpPr/>
          <p:nvPr/>
        </p:nvSpPr>
        <p:spPr>
          <a:xfrm>
            <a:off x="4197548" y="4224337"/>
            <a:ext cx="605254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0"/>
          <p:cNvSpPr/>
          <p:nvPr/>
        </p:nvSpPr>
        <p:spPr>
          <a:xfrm>
            <a:off x="10250090" y="4224337"/>
            <a:ext cx="135135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0"/>
          <p:cNvSpPr/>
          <p:nvPr/>
        </p:nvSpPr>
        <p:spPr>
          <a:xfrm>
            <a:off x="9525" y="9525"/>
            <a:ext cx="12172950" cy="9525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57;p13" title="rit_logo.png">
            <a:extLst>
              <a:ext uri="{FF2B5EF4-FFF2-40B4-BE49-F238E27FC236}">
                <a16:creationId xmlns:a16="http://schemas.microsoft.com/office/drawing/2014/main" id="{14D66666-D46B-58FD-57EA-98D2FB46D2B5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9525"/>
            <a:ext cx="1141358" cy="10782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7" name="Google Shape;257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1476375"/>
            <a:ext cx="11029950" cy="2771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525" y="6372225"/>
            <a:ext cx="121729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1"/>
          <p:cNvSpPr txBox="1"/>
          <p:nvPr/>
        </p:nvSpPr>
        <p:spPr>
          <a:xfrm>
            <a:off x="1533525" y="390525"/>
            <a:ext cx="10581322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Non-Functional Requirement Specifications</a:t>
            </a:r>
            <a:endParaRPr/>
          </a:p>
        </p:txBody>
      </p:sp>
      <p:sp>
        <p:nvSpPr>
          <p:cNvPr id="260" name="Google Shape;260;p21"/>
          <p:cNvSpPr/>
          <p:nvPr/>
        </p:nvSpPr>
        <p:spPr>
          <a:xfrm>
            <a:off x="581025" y="981075"/>
            <a:ext cx="110299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61" name="Google Shape;261;p21"/>
          <p:cNvGraphicFramePr/>
          <p:nvPr/>
        </p:nvGraphicFramePr>
        <p:xfrm>
          <a:off x="590550" y="1485900"/>
          <a:ext cx="11010925" cy="2752750"/>
        </p:xfrm>
        <a:graphic>
          <a:graphicData uri="http://schemas.openxmlformats.org/drawingml/2006/table">
            <a:tbl>
              <a:tblPr firstRow="1" bandRow="1">
                <a:noFill/>
                <a:tableStyleId>{C0C792CA-69F9-48EB-AE1A-38FF82C19E1B}</a:tableStyleId>
              </a:tblPr>
              <a:tblGrid>
                <a:gridCol w="1531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28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51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50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FFFFF"/>
                          </a:solidFill>
                          <a:latin typeface="Open Sans SemiBold"/>
                          <a:ea typeface="Open Sans SemiBold"/>
                          <a:cs typeface="Open Sans SemiBold"/>
                          <a:sym typeface="Open Sans SemiBold"/>
                        </a:rPr>
                        <a:t>NFR No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FFFFF"/>
                          </a:solidFill>
                          <a:latin typeface="Open Sans SemiBold"/>
                          <a:ea typeface="Open Sans SemiBold"/>
                          <a:cs typeface="Open Sans SemiBold"/>
                          <a:sym typeface="Open Sans SemiBold"/>
                        </a:rPr>
                        <a:t>Type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FFFFFF"/>
                          </a:solidFill>
                          <a:latin typeface="Open Sans SemiBold"/>
                          <a:ea typeface="Open Sans SemiBold"/>
                          <a:cs typeface="Open Sans SemiBold"/>
                          <a:sym typeface="Open Sans SemiBold"/>
                        </a:rPr>
                        <a:t>Description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NFR-001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Usability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"Voice-First" design for low-literacy users.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NFR-002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Performance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Low latency on edge devices; Optimized RAG queries.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NFR-003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Reliability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&gt;88% accuracy in variable field lighting conditions.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0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NFR-004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Scalability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1E293B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Backend supports concurrent users via Vector DB.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2" name="Google Shape;262;p21"/>
          <p:cNvSpPr/>
          <p:nvPr/>
        </p:nvSpPr>
        <p:spPr>
          <a:xfrm>
            <a:off x="590550" y="2566987"/>
            <a:ext cx="153129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21"/>
          <p:cNvSpPr/>
          <p:nvPr/>
        </p:nvSpPr>
        <p:spPr>
          <a:xfrm>
            <a:off x="2121842" y="2566987"/>
            <a:ext cx="212853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21"/>
          <p:cNvSpPr/>
          <p:nvPr/>
        </p:nvSpPr>
        <p:spPr>
          <a:xfrm>
            <a:off x="4250382" y="2566987"/>
            <a:ext cx="735106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1"/>
          <p:cNvSpPr/>
          <p:nvPr/>
        </p:nvSpPr>
        <p:spPr>
          <a:xfrm>
            <a:off x="590550" y="3119437"/>
            <a:ext cx="153129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21"/>
          <p:cNvSpPr/>
          <p:nvPr/>
        </p:nvSpPr>
        <p:spPr>
          <a:xfrm>
            <a:off x="2121842" y="3119437"/>
            <a:ext cx="212853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1"/>
          <p:cNvSpPr/>
          <p:nvPr/>
        </p:nvSpPr>
        <p:spPr>
          <a:xfrm>
            <a:off x="4250382" y="3119437"/>
            <a:ext cx="735106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1"/>
          <p:cNvSpPr/>
          <p:nvPr/>
        </p:nvSpPr>
        <p:spPr>
          <a:xfrm>
            <a:off x="590550" y="3671887"/>
            <a:ext cx="153129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1"/>
          <p:cNvSpPr/>
          <p:nvPr/>
        </p:nvSpPr>
        <p:spPr>
          <a:xfrm>
            <a:off x="2121842" y="3671887"/>
            <a:ext cx="212853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21"/>
          <p:cNvSpPr/>
          <p:nvPr/>
        </p:nvSpPr>
        <p:spPr>
          <a:xfrm>
            <a:off x="4250382" y="3671887"/>
            <a:ext cx="735106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1"/>
          <p:cNvSpPr/>
          <p:nvPr/>
        </p:nvSpPr>
        <p:spPr>
          <a:xfrm>
            <a:off x="590550" y="4224337"/>
            <a:ext cx="153129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21"/>
          <p:cNvSpPr/>
          <p:nvPr/>
        </p:nvSpPr>
        <p:spPr>
          <a:xfrm>
            <a:off x="2121842" y="4224337"/>
            <a:ext cx="212853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1"/>
          <p:cNvSpPr/>
          <p:nvPr/>
        </p:nvSpPr>
        <p:spPr>
          <a:xfrm>
            <a:off x="4250382" y="4224337"/>
            <a:ext cx="735106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1"/>
          <p:cNvSpPr/>
          <p:nvPr/>
        </p:nvSpPr>
        <p:spPr>
          <a:xfrm>
            <a:off x="9525" y="9525"/>
            <a:ext cx="12172950" cy="9525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57;p13" title="rit_logo.png">
            <a:extLst>
              <a:ext uri="{FF2B5EF4-FFF2-40B4-BE49-F238E27FC236}">
                <a16:creationId xmlns:a16="http://schemas.microsoft.com/office/drawing/2014/main" id="{77911642-FB17-C33A-DDE3-040A10AF574E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9525"/>
            <a:ext cx="1141358" cy="10782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0" name="Google Shape;280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1762125"/>
            <a:ext cx="2536775" cy="193610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12033" y="1762125"/>
            <a:ext cx="2536775" cy="193610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Google Shape;282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43042" y="1762125"/>
            <a:ext cx="2536775" cy="193610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Google Shape;283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74050" y="1762125"/>
            <a:ext cx="2536775" cy="193610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Google Shape;284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525" y="6372225"/>
            <a:ext cx="121729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22"/>
          <p:cNvSpPr txBox="1"/>
          <p:nvPr/>
        </p:nvSpPr>
        <p:spPr>
          <a:xfrm>
            <a:off x="1533525" y="390525"/>
            <a:ext cx="10581322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Plan for Future Work</a:t>
            </a:r>
            <a:endParaRPr/>
          </a:p>
        </p:txBody>
      </p:sp>
      <p:sp>
        <p:nvSpPr>
          <p:cNvPr id="286" name="Google Shape;286;p22"/>
          <p:cNvSpPr/>
          <p:nvPr/>
        </p:nvSpPr>
        <p:spPr>
          <a:xfrm>
            <a:off x="581025" y="981075"/>
            <a:ext cx="110299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22"/>
          <p:cNvSpPr/>
          <p:nvPr/>
        </p:nvSpPr>
        <p:spPr>
          <a:xfrm>
            <a:off x="581025" y="2711053"/>
            <a:ext cx="11029950" cy="381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22"/>
          <p:cNvSpPr txBox="1"/>
          <p:nvPr/>
        </p:nvSpPr>
        <p:spPr>
          <a:xfrm>
            <a:off x="737633" y="2174230"/>
            <a:ext cx="2223559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03366"/>
                </a:solidFill>
                <a:latin typeface="Open Sans"/>
                <a:ea typeface="Open Sans"/>
                <a:cs typeface="Open Sans"/>
                <a:sym typeface="Open Sans"/>
              </a:rPr>
              <a:t>Phase I</a:t>
            </a:r>
            <a:endParaRPr/>
          </a:p>
        </p:txBody>
      </p:sp>
      <p:sp>
        <p:nvSpPr>
          <p:cNvPr id="289" name="Google Shape;289;p22"/>
          <p:cNvSpPr txBox="1"/>
          <p:nvPr/>
        </p:nvSpPr>
        <p:spPr>
          <a:xfrm>
            <a:off x="790575" y="2536180"/>
            <a:ext cx="211767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Concept, Design &amp; Feasibility Analysis</a:t>
            </a:r>
            <a:endParaRPr/>
          </a:p>
        </p:txBody>
      </p:sp>
      <p:sp>
        <p:nvSpPr>
          <p:cNvPr id="290" name="Google Shape;290;p22"/>
          <p:cNvSpPr txBox="1"/>
          <p:nvPr/>
        </p:nvSpPr>
        <p:spPr>
          <a:xfrm>
            <a:off x="790575" y="3145780"/>
            <a:ext cx="211767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16A34A"/>
                </a:solidFill>
                <a:latin typeface="Open Sans"/>
                <a:ea typeface="Open Sans"/>
                <a:cs typeface="Open Sans"/>
                <a:sym typeface="Open Sans"/>
              </a:rPr>
              <a:t>(Completed)</a:t>
            </a:r>
            <a:endParaRPr/>
          </a:p>
        </p:txBody>
      </p:sp>
      <p:sp>
        <p:nvSpPr>
          <p:cNvPr id="291" name="Google Shape;291;p22"/>
          <p:cNvSpPr txBox="1"/>
          <p:nvPr/>
        </p:nvSpPr>
        <p:spPr>
          <a:xfrm>
            <a:off x="3568641" y="2174230"/>
            <a:ext cx="2223559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03366"/>
                </a:solidFill>
                <a:latin typeface="Open Sans"/>
                <a:ea typeface="Open Sans"/>
                <a:cs typeface="Open Sans"/>
                <a:sym typeface="Open Sans"/>
              </a:rPr>
              <a:t>Phase II</a:t>
            </a:r>
            <a:endParaRPr/>
          </a:p>
        </p:txBody>
      </p:sp>
      <p:sp>
        <p:nvSpPr>
          <p:cNvPr id="292" name="Google Shape;292;p22"/>
          <p:cNvSpPr txBox="1"/>
          <p:nvPr/>
        </p:nvSpPr>
        <p:spPr>
          <a:xfrm>
            <a:off x="3621583" y="2536180"/>
            <a:ext cx="211767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Implementation</a:t>
            </a:r>
            <a:endParaRPr/>
          </a:p>
        </p:txBody>
      </p:sp>
      <p:sp>
        <p:nvSpPr>
          <p:cNvPr id="293" name="Google Shape;293;p22"/>
          <p:cNvSpPr txBox="1"/>
          <p:nvPr/>
        </p:nvSpPr>
        <p:spPr>
          <a:xfrm>
            <a:off x="3621583" y="2898130"/>
            <a:ext cx="2117675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Flutter Frontend &amp; FastAPI Backend Integration</a:t>
            </a:r>
            <a:endParaRPr/>
          </a:p>
        </p:txBody>
      </p:sp>
      <p:sp>
        <p:nvSpPr>
          <p:cNvPr id="294" name="Google Shape;294;p22"/>
          <p:cNvSpPr txBox="1"/>
          <p:nvPr/>
        </p:nvSpPr>
        <p:spPr>
          <a:xfrm>
            <a:off x="6399650" y="2174230"/>
            <a:ext cx="2223559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03366"/>
                </a:solidFill>
                <a:latin typeface="Open Sans"/>
                <a:ea typeface="Open Sans"/>
                <a:cs typeface="Open Sans"/>
                <a:sym typeface="Open Sans"/>
              </a:rPr>
              <a:t>Phase III</a:t>
            </a:r>
            <a:endParaRPr/>
          </a:p>
        </p:txBody>
      </p:sp>
      <p:sp>
        <p:nvSpPr>
          <p:cNvPr id="295" name="Google Shape;295;p22"/>
          <p:cNvSpPr txBox="1"/>
          <p:nvPr/>
        </p:nvSpPr>
        <p:spPr>
          <a:xfrm>
            <a:off x="6452592" y="2536180"/>
            <a:ext cx="211767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Testing</a:t>
            </a:r>
            <a:endParaRPr/>
          </a:p>
        </p:txBody>
      </p:sp>
      <p:sp>
        <p:nvSpPr>
          <p:cNvPr id="296" name="Google Shape;296;p22"/>
          <p:cNvSpPr txBox="1"/>
          <p:nvPr/>
        </p:nvSpPr>
        <p:spPr>
          <a:xfrm>
            <a:off x="6452592" y="2898130"/>
            <a:ext cx="2117675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Dialect accuracy checks &amp; User feedback loops</a:t>
            </a:r>
            <a:endParaRPr/>
          </a:p>
        </p:txBody>
      </p:sp>
      <p:sp>
        <p:nvSpPr>
          <p:cNvPr id="297" name="Google Shape;297;p22"/>
          <p:cNvSpPr txBox="1"/>
          <p:nvPr/>
        </p:nvSpPr>
        <p:spPr>
          <a:xfrm>
            <a:off x="9230658" y="2174230"/>
            <a:ext cx="2223559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03366"/>
                </a:solidFill>
                <a:latin typeface="Open Sans"/>
                <a:ea typeface="Open Sans"/>
                <a:cs typeface="Open Sans"/>
                <a:sym typeface="Open Sans"/>
              </a:rPr>
              <a:t>Phase IV</a:t>
            </a:r>
            <a:endParaRPr/>
          </a:p>
        </p:txBody>
      </p:sp>
      <p:sp>
        <p:nvSpPr>
          <p:cNvPr id="298" name="Google Shape;298;p22"/>
          <p:cNvSpPr txBox="1"/>
          <p:nvPr/>
        </p:nvSpPr>
        <p:spPr>
          <a:xfrm>
            <a:off x="9283600" y="2536180"/>
            <a:ext cx="211767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Deployment</a:t>
            </a:r>
            <a:endParaRPr/>
          </a:p>
        </p:txBody>
      </p:sp>
      <p:sp>
        <p:nvSpPr>
          <p:cNvPr id="299" name="Google Shape;299;p22"/>
          <p:cNvSpPr txBox="1"/>
          <p:nvPr/>
        </p:nvSpPr>
        <p:spPr>
          <a:xfrm>
            <a:off x="9283600" y="2898130"/>
            <a:ext cx="2117675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Offline TFLite models &amp; Field Pilots</a:t>
            </a:r>
            <a:endParaRPr/>
          </a:p>
        </p:txBody>
      </p:sp>
      <p:sp>
        <p:nvSpPr>
          <p:cNvPr id="300" name="Google Shape;300;p22"/>
          <p:cNvSpPr/>
          <p:nvPr/>
        </p:nvSpPr>
        <p:spPr>
          <a:xfrm>
            <a:off x="9525" y="9525"/>
            <a:ext cx="12172950" cy="9525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57;p13" title="rit_logo.png">
            <a:extLst>
              <a:ext uri="{FF2B5EF4-FFF2-40B4-BE49-F238E27FC236}">
                <a16:creationId xmlns:a16="http://schemas.microsoft.com/office/drawing/2014/main" id="{539E43BC-6E4A-5B10-3866-906369860767}"/>
              </a:ext>
            </a:extLst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0" y="9525"/>
            <a:ext cx="1141358" cy="10782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525" y="6372225"/>
            <a:ext cx="121729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23"/>
          <p:cNvSpPr txBox="1"/>
          <p:nvPr/>
        </p:nvSpPr>
        <p:spPr>
          <a:xfrm>
            <a:off x="1533525" y="390525"/>
            <a:ext cx="10581322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References</a:t>
            </a:r>
            <a:endParaRPr/>
          </a:p>
        </p:txBody>
      </p:sp>
      <p:sp>
        <p:nvSpPr>
          <p:cNvPr id="308" name="Google Shape;308;p23"/>
          <p:cNvSpPr/>
          <p:nvPr/>
        </p:nvSpPr>
        <p:spPr>
          <a:xfrm>
            <a:off x="581025" y="981075"/>
            <a:ext cx="110299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23"/>
          <p:cNvSpPr txBox="1"/>
          <p:nvPr/>
        </p:nvSpPr>
        <p:spPr>
          <a:xfrm>
            <a:off x="742950" y="1476375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310" name="Google Shape;310;p23"/>
          <p:cNvSpPr txBox="1"/>
          <p:nvPr/>
        </p:nvSpPr>
        <p:spPr>
          <a:xfrm>
            <a:off x="819150" y="1476375"/>
            <a:ext cx="107918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Balaguer, A., et al. (2024). 'RAG vs Fine-tuning: Pipelines in Agriculture.' </a:t>
            </a:r>
            <a:r>
              <a:rPr lang="en-US" sz="1500" b="0" i="1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arXiv Preprint</a:t>
            </a: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  <a:endParaRPr/>
          </a:p>
        </p:txBody>
      </p:sp>
      <p:sp>
        <p:nvSpPr>
          <p:cNvPr id="311" name="Google Shape;311;p23"/>
          <p:cNvSpPr txBox="1"/>
          <p:nvPr/>
        </p:nvSpPr>
        <p:spPr>
          <a:xfrm>
            <a:off x="742950" y="1876425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312" name="Google Shape;312;p23"/>
          <p:cNvSpPr txBox="1"/>
          <p:nvPr/>
        </p:nvSpPr>
        <p:spPr>
          <a:xfrm>
            <a:off x="819150" y="1876425"/>
            <a:ext cx="107918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Singh, N., et al. (2024). 'Farmer.Chat: Scaling AI-Powered Agricultural Services.' </a:t>
            </a:r>
            <a:r>
              <a:rPr lang="en-US" sz="1500" b="0" i="1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IFPRI</a:t>
            </a: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  <a:endParaRPr/>
          </a:p>
        </p:txBody>
      </p:sp>
      <p:sp>
        <p:nvSpPr>
          <p:cNvPr id="313" name="Google Shape;313;p23"/>
          <p:cNvSpPr txBox="1"/>
          <p:nvPr/>
        </p:nvSpPr>
        <p:spPr>
          <a:xfrm>
            <a:off x="742950" y="2276475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314" name="Google Shape;314;p23"/>
          <p:cNvSpPr txBox="1"/>
          <p:nvPr/>
        </p:nvSpPr>
        <p:spPr>
          <a:xfrm>
            <a:off x="819150" y="2276475"/>
            <a:ext cx="107918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Pinninti, S. K., &amp; Kumar, G. S. (2025). 'AgriVoice: Multilingual Voice &amp; Text Assistant.' </a:t>
            </a:r>
            <a:r>
              <a:rPr lang="en-US" sz="1500" b="0" i="1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JETIR</a:t>
            </a: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  <a:endParaRPr/>
          </a:p>
        </p:txBody>
      </p:sp>
      <p:sp>
        <p:nvSpPr>
          <p:cNvPr id="315" name="Google Shape;315;p23"/>
          <p:cNvSpPr txBox="1"/>
          <p:nvPr/>
        </p:nvSpPr>
        <p:spPr>
          <a:xfrm>
            <a:off x="742950" y="2676525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316" name="Google Shape;316;p23"/>
          <p:cNvSpPr txBox="1"/>
          <p:nvPr/>
        </p:nvSpPr>
        <p:spPr>
          <a:xfrm>
            <a:off x="819150" y="2676525"/>
            <a:ext cx="107918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Narisetti, N., &amp; Bodapati, R. (2024). 'Deep Learning-Based Real-Time Plant Leaf Disease Prediction.' </a:t>
            </a:r>
            <a:r>
              <a:rPr lang="en-US" sz="1500" b="0" i="1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IJIRT</a:t>
            </a: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  <a:endParaRPr/>
          </a:p>
        </p:txBody>
      </p:sp>
      <p:sp>
        <p:nvSpPr>
          <p:cNvPr id="317" name="Google Shape;317;p23"/>
          <p:cNvSpPr txBox="1"/>
          <p:nvPr/>
        </p:nvSpPr>
        <p:spPr>
          <a:xfrm>
            <a:off x="742950" y="3076575"/>
            <a:ext cx="762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318" name="Google Shape;318;p23"/>
          <p:cNvSpPr txBox="1"/>
          <p:nvPr/>
        </p:nvSpPr>
        <p:spPr>
          <a:xfrm>
            <a:off x="819150" y="3076575"/>
            <a:ext cx="107918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Chakravorty, C., et al. (2025). Augmented Reality/Virtual Reality for Immersive Collaboration. </a:t>
            </a:r>
            <a:r>
              <a:rPr lang="en-US" sz="1500" b="0" i="1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SN COMPUT. SCI.</a:t>
            </a:r>
            <a:endParaRPr/>
          </a:p>
        </p:txBody>
      </p:sp>
      <p:sp>
        <p:nvSpPr>
          <p:cNvPr id="319" name="Google Shape;319;p23"/>
          <p:cNvSpPr/>
          <p:nvPr/>
        </p:nvSpPr>
        <p:spPr>
          <a:xfrm>
            <a:off x="9525" y="9525"/>
            <a:ext cx="12172950" cy="9525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57;p13" title="rit_logo.png">
            <a:extLst>
              <a:ext uri="{FF2B5EF4-FFF2-40B4-BE49-F238E27FC236}">
                <a16:creationId xmlns:a16="http://schemas.microsoft.com/office/drawing/2014/main" id="{9C0B766A-1C31-77CC-DF14-6FB4BE69856A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9525"/>
            <a:ext cx="1141358" cy="10782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5" name="Google Shape;325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6" name="Google Shape;326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525" y="9525"/>
            <a:ext cx="12172950" cy="6838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7" name="Google Shape;327;p2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30924" y="1962150"/>
            <a:ext cx="730150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24"/>
          <p:cNvSpPr txBox="1"/>
          <p:nvPr/>
        </p:nvSpPr>
        <p:spPr>
          <a:xfrm>
            <a:off x="3945731" y="3105150"/>
            <a:ext cx="4300537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0" i="0" u="none" strike="noStrike" cap="none">
                <a:solidFill>
                  <a:srgbClr val="FFFFFF"/>
                </a:solidFill>
                <a:latin typeface="Merriweather Black"/>
                <a:ea typeface="Merriweather Black"/>
                <a:cs typeface="Merriweather Black"/>
                <a:sym typeface="Merriweather Black"/>
              </a:rPr>
              <a:t>Thank You</a:t>
            </a:r>
            <a:endParaRPr/>
          </a:p>
        </p:txBody>
      </p:sp>
      <p:sp>
        <p:nvSpPr>
          <p:cNvPr id="329" name="Google Shape;329;p24"/>
          <p:cNvSpPr txBox="1"/>
          <p:nvPr/>
        </p:nvSpPr>
        <p:spPr>
          <a:xfrm>
            <a:off x="5510212" y="4438650"/>
            <a:ext cx="117157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BD5E1"/>
                </a:solidFill>
                <a:latin typeface="Open Sans"/>
                <a:ea typeface="Open Sans"/>
                <a:cs typeface="Open Sans"/>
                <a:sym typeface="Open Sans"/>
              </a:rPr>
              <a:t>Questions?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25"/>
          <p:cNvSpPr txBox="1"/>
          <p:nvPr/>
        </p:nvSpPr>
        <p:spPr>
          <a:xfrm>
            <a:off x="1533525" y="390525"/>
            <a:ext cx="10581322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Image Sources</a:t>
            </a:r>
            <a:endParaRPr/>
          </a:p>
        </p:txBody>
      </p:sp>
      <p:sp>
        <p:nvSpPr>
          <p:cNvPr id="335" name="Google Shape;335;p25"/>
          <p:cNvSpPr/>
          <p:nvPr/>
        </p:nvSpPr>
        <p:spPr>
          <a:xfrm>
            <a:off x="581025" y="981075"/>
            <a:ext cx="110299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25"/>
          <p:cNvSpPr/>
          <p:nvPr/>
        </p:nvSpPr>
        <p:spPr>
          <a:xfrm>
            <a:off x="581025" y="1285875"/>
            <a:ext cx="1102995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25"/>
          <p:cNvSpPr/>
          <p:nvPr/>
        </p:nvSpPr>
        <p:spPr>
          <a:xfrm>
            <a:off x="581025" y="2057400"/>
            <a:ext cx="1102995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25"/>
          <p:cNvSpPr/>
          <p:nvPr/>
        </p:nvSpPr>
        <p:spPr>
          <a:xfrm>
            <a:off x="581025" y="2828925"/>
            <a:ext cx="1102995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25"/>
          <p:cNvSpPr/>
          <p:nvPr/>
        </p:nvSpPr>
        <p:spPr>
          <a:xfrm>
            <a:off x="581025" y="2047875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25"/>
          <p:cNvSpPr/>
          <p:nvPr/>
        </p:nvSpPr>
        <p:spPr>
          <a:xfrm>
            <a:off x="581025" y="2047875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25"/>
          <p:cNvSpPr/>
          <p:nvPr/>
        </p:nvSpPr>
        <p:spPr>
          <a:xfrm>
            <a:off x="581025" y="2819400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25"/>
          <p:cNvSpPr/>
          <p:nvPr/>
        </p:nvSpPr>
        <p:spPr>
          <a:xfrm>
            <a:off x="581025" y="2819400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5"/>
          <p:cNvSpPr/>
          <p:nvPr/>
        </p:nvSpPr>
        <p:spPr>
          <a:xfrm>
            <a:off x="581025" y="3590925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25"/>
          <p:cNvSpPr/>
          <p:nvPr/>
        </p:nvSpPr>
        <p:spPr>
          <a:xfrm>
            <a:off x="581025" y="3590925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45" name="Google Shape;345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1428750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46" name="Google Shape;346;p25"/>
          <p:cNvSpPr txBox="1"/>
          <p:nvPr/>
        </p:nvSpPr>
        <p:spPr>
          <a:xfrm>
            <a:off x="1676400" y="1435893"/>
            <a:ext cx="9934575" cy="185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 dirty="0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https://upload.wikimedia.org/wikipedia/en/5/5a/Ramaiah_Institutions_Logo.png</a:t>
            </a:r>
            <a:endParaRPr dirty="0"/>
          </a:p>
        </p:txBody>
      </p:sp>
      <p:sp>
        <p:nvSpPr>
          <p:cNvPr id="347" name="Google Shape;347;p25"/>
          <p:cNvSpPr txBox="1"/>
          <p:nvPr/>
        </p:nvSpPr>
        <p:spPr>
          <a:xfrm>
            <a:off x="1676400" y="1669256"/>
            <a:ext cx="993457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Source: </a:t>
            </a:r>
            <a:r>
              <a:rPr lang="en-US" sz="1200" b="0" i="0" u="none" strike="noStrike" cap="none" dirty="0">
                <a:solidFill>
                  <a:srgbClr val="4F46E5"/>
                </a:solidFill>
                <a:latin typeface="Open Sans"/>
                <a:ea typeface="Open Sans"/>
                <a:cs typeface="Open Sans"/>
                <a:sym typeface="Open Sans"/>
              </a:rPr>
              <a:t>en.wikipedia.org</a:t>
            </a:r>
            <a:endParaRPr dirty="0"/>
          </a:p>
        </p:txBody>
      </p:sp>
      <p:pic>
        <p:nvPicPr>
          <p:cNvPr id="348" name="Google Shape;348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200275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5"/>
          <p:cNvSpPr txBox="1"/>
          <p:nvPr/>
        </p:nvSpPr>
        <p:spPr>
          <a:xfrm>
            <a:off x="1676400" y="2207418"/>
            <a:ext cx="9934575" cy="185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https://blogs.adb.org/sites/blogs/files/file-attachments/MfUMZClDyHeukvt1MQJBDiWbJX52cYlMeoaGgI7ZM4M.jpg</a:t>
            </a:r>
            <a:endParaRPr/>
          </a:p>
        </p:txBody>
      </p:sp>
      <p:sp>
        <p:nvSpPr>
          <p:cNvPr id="350" name="Google Shape;350;p25"/>
          <p:cNvSpPr txBox="1"/>
          <p:nvPr/>
        </p:nvSpPr>
        <p:spPr>
          <a:xfrm>
            <a:off x="1676400" y="2440781"/>
            <a:ext cx="993457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Open Sans"/>
                <a:ea typeface="Open Sans"/>
                <a:cs typeface="Open Sans"/>
                <a:sym typeface="Open Sans"/>
              </a:rPr>
              <a:t>blogs.adb.org</a:t>
            </a:r>
            <a:endParaRPr/>
          </a:p>
        </p:txBody>
      </p:sp>
      <p:pic>
        <p:nvPicPr>
          <p:cNvPr id="351" name="Google Shape;351;p2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2971800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25"/>
          <p:cNvSpPr txBox="1"/>
          <p:nvPr/>
        </p:nvSpPr>
        <p:spPr>
          <a:xfrm>
            <a:off x="1676400" y="2978943"/>
            <a:ext cx="9934575" cy="185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https://img.freepik.com/premium-photo/indian-farmer-showing-smartphone-cotton-agriculture-field_75648-12479.jpg</a:t>
            </a:r>
            <a:endParaRPr/>
          </a:p>
        </p:txBody>
      </p:sp>
      <p:sp>
        <p:nvSpPr>
          <p:cNvPr id="353" name="Google Shape;353;p25"/>
          <p:cNvSpPr txBox="1"/>
          <p:nvPr/>
        </p:nvSpPr>
        <p:spPr>
          <a:xfrm>
            <a:off x="1676400" y="3212306"/>
            <a:ext cx="993457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Open Sans"/>
                <a:ea typeface="Open Sans"/>
                <a:cs typeface="Open Sans"/>
                <a:sym typeface="Open Sans"/>
              </a:rPr>
              <a:t>www.freepik.com</a:t>
            </a:r>
            <a:endParaRPr/>
          </a:p>
        </p:txBody>
      </p:sp>
      <p:pic>
        <p:nvPicPr>
          <p:cNvPr id="354" name="Google Shape;354;p2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3829050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55" name="Google Shape;355;p25"/>
          <p:cNvSpPr txBox="1"/>
          <p:nvPr/>
        </p:nvSpPr>
        <p:spPr>
          <a:xfrm>
            <a:off x="1676400" y="3743325"/>
            <a:ext cx="9934575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https://stg-uploads.slidenest.com/template_3314/templateColor_3201/previewImages/planning-a-sustainable-garden-powerpoint-google-slides-keynote-presentation-template-25.jpeg</a:t>
            </a:r>
            <a:endParaRPr/>
          </a:p>
        </p:txBody>
      </p:sp>
      <p:sp>
        <p:nvSpPr>
          <p:cNvPr id="356" name="Google Shape;356;p25"/>
          <p:cNvSpPr txBox="1"/>
          <p:nvPr/>
        </p:nvSpPr>
        <p:spPr>
          <a:xfrm>
            <a:off x="1676400" y="4162425"/>
            <a:ext cx="993457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E293B"/>
                </a:solidFill>
                <a:latin typeface="Open Sans"/>
                <a:ea typeface="Open Sans"/>
                <a:cs typeface="Open Sans"/>
                <a:sym typeface="Open Sans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Open Sans"/>
                <a:ea typeface="Open Sans"/>
                <a:cs typeface="Open Sans"/>
                <a:sym typeface="Open Sans"/>
              </a:rPr>
              <a:t>slidenest.com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872</Words>
  <Application>Microsoft Office PowerPoint</Application>
  <PresentationFormat>Widescreen</PresentationFormat>
  <Paragraphs>155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Merriweather</vt:lpstr>
      <vt:lpstr>Open Sans SemiBold</vt:lpstr>
      <vt:lpstr>Calibri</vt:lpstr>
      <vt:lpstr>Merriweather Black</vt:lpstr>
      <vt:lpstr>Arial</vt:lpstr>
      <vt:lpstr>Open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Krishna Harish</cp:lastModifiedBy>
  <cp:revision>2</cp:revision>
  <dcterms:modified xsi:type="dcterms:W3CDTF">2026-01-02T10:48:59Z</dcterms:modified>
</cp:coreProperties>
</file>